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entury Gothic Paneuropean Bold" charset="1" panose="020B0702020202020204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ieeexplore.ieee.org/document/708428" TargetMode="External" Type="http://schemas.openxmlformats.org/officeDocument/2006/relationships/hyperlink"/><Relationship Id="rId4" Target="https://christophm.github.io/interpretable-ml-book/" TargetMode="External" Type="http://schemas.openxmlformats.org/officeDocument/2006/relationships/hyperlink"/><Relationship Id="rId5" Target="https://docs.pytorch.org/docs/2.14/index.html" TargetMode="External" Type="http://schemas.openxmlformats.org/officeDocument/2006/relationships/hyperlink"/><Relationship Id="rId6" Target="https://scikit-fuzzy.readthedocs.io/en/latest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ACADEMIC PROJECT PRESENTATION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960120"/>
            <a:ext cx="16733520" cy="1303020"/>
            <a:chOff x="0" y="0"/>
            <a:chExt cx="22311360" cy="1737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228" r="0" b="-2002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NeuroDefect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2331720"/>
            <a:ext cx="16733520" cy="1303020"/>
            <a:chOff x="0" y="0"/>
            <a:chExt cx="22311360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113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228" r="0" b="-2002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2311360" cy="1804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0E7C8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Hybrid Neuro-Fuzzy-GA Decision Support System for</a:t>
              </a:r>
            </a:p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0E7C8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Software Defect Prediction and Bug-Severity Assessment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4380" y="3977640"/>
            <a:ext cx="16733520" cy="384048"/>
            <a:chOff x="0" y="0"/>
            <a:chExt cx="22311360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4380" y="4594860"/>
            <a:ext cx="8161020" cy="2948940"/>
            <a:chOff x="0" y="0"/>
            <a:chExt cx="10881360" cy="3931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13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3931920"/>
                  </a:lnTo>
                  <a:lnTo>
                    <a:pt x="0" y="3931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26880" y="4594860"/>
            <a:ext cx="8161020" cy="2948940"/>
            <a:chOff x="0" y="0"/>
            <a:chExt cx="10881360" cy="393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813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3931920"/>
                  </a:lnTo>
                  <a:lnTo>
                    <a:pt x="0" y="3931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54380" y="4594860"/>
            <a:ext cx="137160" cy="2948940"/>
            <a:chOff x="0" y="0"/>
            <a:chExt cx="182880" cy="3931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3931920"/>
                  </a:lnTo>
                  <a:lnTo>
                    <a:pt x="0" y="3931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26880" y="4594860"/>
            <a:ext cx="137160" cy="2948940"/>
            <a:chOff x="0" y="0"/>
            <a:chExt cx="182880" cy="3931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3931920"/>
                  </a:lnTo>
                  <a:lnTo>
                    <a:pt x="0" y="3931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3020" y="5074920"/>
            <a:ext cx="7269480" cy="685800"/>
            <a:chOff x="0" y="0"/>
            <a:chExt cx="969264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96926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CH Vamsi Krishna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03020" y="5897880"/>
            <a:ext cx="7269480" cy="617220"/>
            <a:chOff x="0" y="0"/>
            <a:chExt cx="9692640" cy="82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92640" cy="822960"/>
            </a:xfrm>
            <a:custGeom>
              <a:avLst/>
              <a:gdLst/>
              <a:ahLst/>
              <a:cxnLst/>
              <a:rect r="r" b="b" t="t" l="l"/>
              <a:pathLst>
                <a:path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490" r="0" b="-17949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6926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E7C8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24BCE8195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75520" y="5074920"/>
            <a:ext cx="7269480" cy="685800"/>
            <a:chOff x="0" y="0"/>
            <a:chExt cx="969264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96926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G Srinivas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75520" y="5897880"/>
            <a:ext cx="7269480" cy="617220"/>
            <a:chOff x="0" y="0"/>
            <a:chExt cx="969264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92640" cy="822960"/>
            </a:xfrm>
            <a:custGeom>
              <a:avLst/>
              <a:gdLst/>
              <a:ahLst/>
              <a:cxnLst/>
              <a:rect r="r" b="b" t="t" l="l"/>
              <a:pathLst>
                <a:path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490" r="0" b="-17949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6926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E7C8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24BCE8126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54380" y="7886700"/>
            <a:ext cx="16733520" cy="548640"/>
            <a:chOff x="0" y="0"/>
            <a:chExt cx="2231136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3113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293" r="0" b="-54429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2231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 defect prediction  ·  Explainable AI  ·  Genetic algorithms  ·  Fuzzy risk assessment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  /  13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What this presentation covers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1920240"/>
            <a:ext cx="8298180" cy="2125980"/>
            <a:chOff x="0" y="0"/>
            <a:chExt cx="11064240" cy="2834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2724912"/>
                  </a:lnTo>
                  <a:cubicBezTo>
                    <a:pt x="11064240" y="2785491"/>
                    <a:pt x="11015091" y="2834640"/>
                    <a:pt x="1095451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56132" y="2496312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6132" y="2674620"/>
            <a:ext cx="960120" cy="617220"/>
            <a:chOff x="0" y="0"/>
            <a:chExt cx="128016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90572" y="2359152"/>
            <a:ext cx="6377940" cy="576072"/>
            <a:chOff x="0" y="0"/>
            <a:chExt cx="850392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03920" cy="768096"/>
            </a:xfrm>
            <a:custGeom>
              <a:avLst/>
              <a:gdLst/>
              <a:ahLst/>
              <a:cxnLst/>
              <a:rect r="r" b="b" t="t" l="l"/>
              <a:pathLst>
                <a:path h="768096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850392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What we are building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90572" y="2990088"/>
            <a:ext cx="6377940" cy="685800"/>
            <a:chOff x="0" y="0"/>
            <a:chExt cx="850392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503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explainable decision-support system for software defect prediction.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64040" y="1920240"/>
            <a:ext cx="8298180" cy="2125980"/>
            <a:chOff x="0" y="0"/>
            <a:chExt cx="11064240" cy="2834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2724912"/>
                  </a:lnTo>
                  <a:cubicBezTo>
                    <a:pt x="11064240" y="2785491"/>
                    <a:pt x="11015091" y="2834640"/>
                    <a:pt x="1095451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765792" y="2496312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65792" y="2674620"/>
            <a:ext cx="960120" cy="617220"/>
            <a:chOff x="0" y="0"/>
            <a:chExt cx="1280160" cy="82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00232" y="2359152"/>
            <a:ext cx="6377940" cy="576072"/>
            <a:chOff x="0" y="0"/>
            <a:chExt cx="8503920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03920" cy="768096"/>
            </a:xfrm>
            <a:custGeom>
              <a:avLst/>
              <a:gdLst/>
              <a:ahLst/>
              <a:cxnLst/>
              <a:rect r="r" b="b" t="t" l="l"/>
              <a:pathLst>
                <a:path h="768096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50392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Problem statement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000232" y="2990088"/>
            <a:ext cx="6377940" cy="685800"/>
            <a:chOff x="0" y="0"/>
            <a:chExt cx="850392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503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late, black-box defect detection fails testing teams.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54380" y="4320540"/>
            <a:ext cx="8298180" cy="2125980"/>
            <a:chOff x="0" y="0"/>
            <a:chExt cx="11064240" cy="2834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2724912"/>
                  </a:lnTo>
                  <a:cubicBezTo>
                    <a:pt x="11064240" y="2785491"/>
                    <a:pt x="11015091" y="2834640"/>
                    <a:pt x="1095451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56132" y="4896612"/>
            <a:ext cx="960120" cy="960120"/>
            <a:chOff x="0" y="0"/>
            <a:chExt cx="128016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56132" y="5074920"/>
            <a:ext cx="960120" cy="617220"/>
            <a:chOff x="0" y="0"/>
            <a:chExt cx="1280160" cy="822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290572" y="4759452"/>
            <a:ext cx="6377940" cy="576072"/>
            <a:chOff x="0" y="0"/>
            <a:chExt cx="8503920" cy="7680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03920" cy="768096"/>
            </a:xfrm>
            <a:custGeom>
              <a:avLst/>
              <a:gdLst/>
              <a:ahLst/>
              <a:cxnLst/>
              <a:rect r="r" b="b" t="t" l="l"/>
              <a:pathLst>
                <a:path h="768096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850392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Why this project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290572" y="5390388"/>
            <a:ext cx="6377940" cy="685800"/>
            <a:chOff x="0" y="0"/>
            <a:chExt cx="850392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503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</a:t>
              </a: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arly detection and prioritization of software defects.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64040" y="4320540"/>
            <a:ext cx="8298180" cy="2125980"/>
            <a:chOff x="0" y="0"/>
            <a:chExt cx="11064240" cy="2834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2724912"/>
                  </a:lnTo>
                  <a:cubicBezTo>
                    <a:pt x="11064240" y="2785491"/>
                    <a:pt x="11015091" y="2834640"/>
                    <a:pt x="1095451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765792" y="4896612"/>
            <a:ext cx="960120" cy="960120"/>
            <a:chOff x="0" y="0"/>
            <a:chExt cx="1280160" cy="12801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65792" y="5074920"/>
            <a:ext cx="960120" cy="617220"/>
            <a:chOff x="0" y="0"/>
            <a:chExt cx="1280160" cy="822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000232" y="4759452"/>
            <a:ext cx="6377940" cy="576072"/>
            <a:chOff x="0" y="0"/>
            <a:chExt cx="8503920" cy="7680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503920" cy="768096"/>
            </a:xfrm>
            <a:custGeom>
              <a:avLst/>
              <a:gdLst/>
              <a:ahLst/>
              <a:cxnLst/>
              <a:rect r="r" b="b" t="t" l="l"/>
              <a:pathLst>
                <a:path h="768096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850392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Datasets &amp; sources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000232" y="5390388"/>
            <a:ext cx="6377940" cy="685800"/>
            <a:chOff x="0" y="0"/>
            <a:chExt cx="850392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503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NASA PROMISE / MDP projects with official reference links.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54380" y="6720840"/>
            <a:ext cx="8298180" cy="2125980"/>
            <a:chOff x="0" y="0"/>
            <a:chExt cx="11064240" cy="2834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2724912"/>
                  </a:lnTo>
                  <a:cubicBezTo>
                    <a:pt x="11064240" y="2785491"/>
                    <a:pt x="11015091" y="2834640"/>
                    <a:pt x="1095451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56132" y="7296912"/>
            <a:ext cx="960120" cy="960120"/>
            <a:chOff x="0" y="0"/>
            <a:chExt cx="1280160" cy="1280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56132" y="7475220"/>
            <a:ext cx="960120" cy="617220"/>
            <a:chOff x="0" y="0"/>
            <a:chExt cx="1280160" cy="822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290572" y="7159752"/>
            <a:ext cx="6377940" cy="576072"/>
            <a:chOff x="0" y="0"/>
            <a:chExt cx="8503920" cy="7680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03920" cy="768096"/>
            </a:xfrm>
            <a:custGeom>
              <a:avLst/>
              <a:gdLst/>
              <a:ahLst/>
              <a:cxnLst/>
              <a:rect r="r" b="b" t="t" l="l"/>
              <a:pathLst>
                <a:path h="768096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50392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Method &amp; tech stack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290572" y="7790688"/>
            <a:ext cx="6377940" cy="685800"/>
            <a:chOff x="0" y="0"/>
            <a:chExt cx="850392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8503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 feature selection, neural predictor, fuzzy risk, Streamlit UI.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464040" y="6720840"/>
            <a:ext cx="8298180" cy="2125980"/>
            <a:chOff x="0" y="0"/>
            <a:chExt cx="11064240" cy="2834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2724912"/>
                  </a:lnTo>
                  <a:cubicBezTo>
                    <a:pt x="11064240" y="2785491"/>
                    <a:pt x="11015091" y="2834640"/>
                    <a:pt x="1095451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765792" y="7296912"/>
            <a:ext cx="960120" cy="960120"/>
            <a:chOff x="0" y="0"/>
            <a:chExt cx="1280160" cy="12801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765792" y="7475220"/>
            <a:ext cx="960120" cy="617220"/>
            <a:chOff x="0" y="0"/>
            <a:chExt cx="1280160" cy="8229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000232" y="7159752"/>
            <a:ext cx="6377940" cy="576072"/>
            <a:chOff x="0" y="0"/>
            <a:chExt cx="8503920" cy="7680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503920" cy="768096"/>
            </a:xfrm>
            <a:custGeom>
              <a:avLst/>
              <a:gdLst/>
              <a:ahLst/>
              <a:cxnLst/>
              <a:rect r="r" b="b" t="t" l="l"/>
              <a:pathLst>
                <a:path h="768096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850392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Integrity notes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000232" y="7790688"/>
            <a:ext cx="6377940" cy="685800"/>
            <a:chOff x="0" y="0"/>
            <a:chExt cx="8503920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8503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the system claims — and what it must not claim.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 /  13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PURPOSE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What we are doing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1645920"/>
            <a:ext cx="16733520" cy="754380"/>
            <a:chOff x="0" y="0"/>
            <a:chExt cx="2231136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311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is an explainable software defect prediction and decision-support system. It helps testers decide which modules to inspect first — and why.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4380" y="2674620"/>
            <a:ext cx="5417820" cy="6240780"/>
            <a:chOff x="0" y="0"/>
            <a:chExt cx="7223760" cy="8321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23760" cy="8321040"/>
            </a:xfrm>
            <a:custGeom>
              <a:avLst/>
              <a:gdLst/>
              <a:ahLst/>
              <a:cxnLst/>
              <a:rect r="r" b="b" t="t" l="l"/>
              <a:pathLst>
                <a:path h="83210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321040"/>
                  </a:lnTo>
                  <a:lnTo>
                    <a:pt x="0" y="8321040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54380" y="2674620"/>
            <a:ext cx="5417820" cy="137160"/>
            <a:chOff x="0" y="0"/>
            <a:chExt cx="7223760" cy="182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3760" cy="182880"/>
            </a:xfrm>
            <a:custGeom>
              <a:avLst/>
              <a:gdLst/>
              <a:ahLst/>
              <a:cxnLst/>
              <a:rect r="r" b="b" t="t" l="l"/>
              <a:pathLst>
                <a:path h="18288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38428" y="3154680"/>
            <a:ext cx="4663440" cy="438912"/>
            <a:chOff x="0" y="0"/>
            <a:chExt cx="621792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7920" cy="585216"/>
            </a:xfrm>
            <a:custGeom>
              <a:avLst/>
              <a:gdLst/>
              <a:ahLst/>
              <a:cxnLst/>
              <a:rect r="r" b="b" t="t" l="l"/>
              <a:pathLst>
                <a:path h="585216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2179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40">
                  <a:solidFill>
                    <a:srgbClr val="D4A8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8428" y="3771900"/>
            <a:ext cx="4663440" cy="1577340"/>
            <a:chOff x="0" y="0"/>
            <a:chExt cx="6217920" cy="2103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17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" r="0" b="-760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6217920" cy="2093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Is this module defective?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8428" y="5623560"/>
            <a:ext cx="4663440" cy="2743200"/>
            <a:chOff x="0" y="0"/>
            <a:chExt cx="6217920" cy="3657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17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21792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neural network trained on NASA software metrics outputs a defect probability and a defective / non-defective label.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15100" y="2674620"/>
            <a:ext cx="5417820" cy="6240780"/>
            <a:chOff x="0" y="0"/>
            <a:chExt cx="7223760" cy="8321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23760" cy="8321040"/>
            </a:xfrm>
            <a:custGeom>
              <a:avLst/>
              <a:gdLst/>
              <a:ahLst/>
              <a:cxnLst/>
              <a:rect r="r" b="b" t="t" l="l"/>
              <a:pathLst>
                <a:path h="83210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321040"/>
                  </a:lnTo>
                  <a:lnTo>
                    <a:pt x="0" y="8321040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15100" y="2674620"/>
            <a:ext cx="5417820" cy="137160"/>
            <a:chOff x="0" y="0"/>
            <a:chExt cx="7223760" cy="182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23760" cy="182880"/>
            </a:xfrm>
            <a:custGeom>
              <a:avLst/>
              <a:gdLst/>
              <a:ahLst/>
              <a:cxnLst/>
              <a:rect r="r" b="b" t="t" l="l"/>
              <a:pathLst>
                <a:path h="18288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99148" y="3154680"/>
            <a:ext cx="4663440" cy="438912"/>
            <a:chOff x="0" y="0"/>
            <a:chExt cx="621792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585216"/>
            </a:xfrm>
            <a:custGeom>
              <a:avLst/>
              <a:gdLst/>
              <a:ahLst/>
              <a:cxnLst/>
              <a:rect r="r" b="b" t="t" l="l"/>
              <a:pathLst>
                <a:path h="585216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2179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40">
                  <a:solidFill>
                    <a:srgbClr val="D4A8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ASSESS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99148" y="3771900"/>
            <a:ext cx="4663440" cy="1577340"/>
            <a:chOff x="0" y="0"/>
            <a:chExt cx="6217920" cy="2103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17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" r="0" b="-760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6217920" cy="2093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How urgent is the risk?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99148" y="5623560"/>
            <a:ext cx="4663440" cy="2743200"/>
            <a:chOff x="0" y="0"/>
            <a:chExt cx="6217920" cy="3657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17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21792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Fuzzy inference converts probability plus complexity, size, and Halstead metrics into a derived risk severity: Low, Medium, High, or Critical.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75820" y="2674620"/>
            <a:ext cx="5417820" cy="6240780"/>
            <a:chOff x="0" y="0"/>
            <a:chExt cx="7223760" cy="8321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23760" cy="8321040"/>
            </a:xfrm>
            <a:custGeom>
              <a:avLst/>
              <a:gdLst/>
              <a:ahLst/>
              <a:cxnLst/>
              <a:rect r="r" b="b" t="t" l="l"/>
              <a:pathLst>
                <a:path h="83210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321040"/>
                  </a:lnTo>
                  <a:lnTo>
                    <a:pt x="0" y="8321040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275820" y="2674620"/>
            <a:ext cx="5417820" cy="137160"/>
            <a:chOff x="0" y="0"/>
            <a:chExt cx="7223760" cy="182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223760" cy="182880"/>
            </a:xfrm>
            <a:custGeom>
              <a:avLst/>
              <a:gdLst/>
              <a:ahLst/>
              <a:cxnLst/>
              <a:rect r="r" b="b" t="t" l="l"/>
              <a:pathLst>
                <a:path h="18288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659868" y="3154680"/>
            <a:ext cx="4663440" cy="438912"/>
            <a:chOff x="0" y="0"/>
            <a:chExt cx="6217920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17920" cy="585216"/>
            </a:xfrm>
            <a:custGeom>
              <a:avLst/>
              <a:gdLst/>
              <a:ahLst/>
              <a:cxnLst/>
              <a:rect r="r" b="b" t="t" l="l"/>
              <a:pathLst>
                <a:path h="585216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62179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40">
                  <a:solidFill>
                    <a:srgbClr val="D4A8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659868" y="3771900"/>
            <a:ext cx="4663440" cy="1577340"/>
            <a:chOff x="0" y="0"/>
            <a:chExt cx="6217920" cy="21031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17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" r="0" b="-760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6217920" cy="2093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Why did the system say that?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659868" y="5623560"/>
            <a:ext cx="4663440" cy="2743200"/>
            <a:chOff x="0" y="0"/>
            <a:chExt cx="6217920" cy="3657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217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621792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UI shows selected features, fired fuzzy rules, contributing metrics, prediction confidence, and a testing recommendation.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 /  13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Software defects are expensive. Finding them is hard.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1920240"/>
            <a:ext cx="8298180" cy="3223260"/>
            <a:chOff x="0" y="0"/>
            <a:chExt cx="11064240" cy="4297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642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4187952"/>
                  </a:lnTo>
                  <a:cubicBezTo>
                    <a:pt x="11064240" y="4248531"/>
                    <a:pt x="11015091" y="4297680"/>
                    <a:pt x="10954512" y="4297680"/>
                  </a:cubicBezTo>
                  <a:lnTo>
                    <a:pt x="109728" y="4297680"/>
                  </a:lnTo>
                  <a:cubicBezTo>
                    <a:pt x="49149" y="4297680"/>
                    <a:pt x="0" y="4248531"/>
                    <a:pt x="0" y="418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304288"/>
            <a:ext cx="1508760" cy="617220"/>
            <a:chOff x="0" y="0"/>
            <a:chExt cx="201168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822960"/>
            </a:xfrm>
            <a:custGeom>
              <a:avLst/>
              <a:gdLst/>
              <a:ahLst/>
              <a:cxnLst/>
              <a:rect r="r" b="b" t="t" l="l"/>
              <a:pathLst>
                <a:path h="82296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0116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74620" y="2359152"/>
            <a:ext cx="5966460" cy="617220"/>
            <a:chOff x="0" y="0"/>
            <a:chExt cx="795528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55280" cy="822960"/>
            </a:xfrm>
            <a:custGeom>
              <a:avLst/>
              <a:gdLst/>
              <a:ahLst/>
              <a:cxnLst/>
              <a:rect r="r" b="b" t="t" l="l"/>
              <a:pathLst>
                <a:path h="82296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9552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Defects found late cost more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5860" y="3291840"/>
            <a:ext cx="7475220" cy="1440180"/>
            <a:chOff x="0" y="0"/>
            <a:chExt cx="9966960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669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136" r="0" b="-511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96696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faulty module that escapes into later phases is far more expensive to fix than one caught during targeted review.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64040" y="1920240"/>
            <a:ext cx="8298180" cy="3223260"/>
            <a:chOff x="0" y="0"/>
            <a:chExt cx="11064240" cy="4297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642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4187952"/>
                  </a:lnTo>
                  <a:cubicBezTo>
                    <a:pt x="11064240" y="4248531"/>
                    <a:pt x="11015091" y="4297680"/>
                    <a:pt x="10954512" y="4297680"/>
                  </a:cubicBezTo>
                  <a:lnTo>
                    <a:pt x="109728" y="4297680"/>
                  </a:lnTo>
                  <a:cubicBezTo>
                    <a:pt x="49149" y="4297680"/>
                    <a:pt x="0" y="4248531"/>
                    <a:pt x="0" y="418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875520" y="2304288"/>
            <a:ext cx="1508760" cy="617220"/>
            <a:chOff x="0" y="0"/>
            <a:chExt cx="2011680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11680" cy="822960"/>
            </a:xfrm>
            <a:custGeom>
              <a:avLst/>
              <a:gdLst/>
              <a:ahLst/>
              <a:cxnLst/>
              <a:rect r="r" b="b" t="t" l="l"/>
              <a:pathLst>
                <a:path h="82296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0116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384280" y="2359152"/>
            <a:ext cx="5966460" cy="617220"/>
            <a:chOff x="0" y="0"/>
            <a:chExt cx="795528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55280" cy="822960"/>
            </a:xfrm>
            <a:custGeom>
              <a:avLst/>
              <a:gdLst/>
              <a:ahLst/>
              <a:cxnLst/>
              <a:rect r="r" b="b" t="t" l="l"/>
              <a:pathLst>
                <a:path h="82296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79552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Testing time is limited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75520" y="3291840"/>
            <a:ext cx="7475220" cy="1440180"/>
            <a:chOff x="0" y="0"/>
            <a:chExt cx="9966960" cy="1920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669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136" r="0" b="-511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96696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Teams cannot inspect every module. They need a ranked testing priority, not a single accuracy number.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54380" y="5417820"/>
            <a:ext cx="8298180" cy="3223260"/>
            <a:chOff x="0" y="0"/>
            <a:chExt cx="11064240" cy="429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642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4187952"/>
                  </a:lnTo>
                  <a:cubicBezTo>
                    <a:pt x="11064240" y="4248531"/>
                    <a:pt x="11015091" y="4297680"/>
                    <a:pt x="10954512" y="4297680"/>
                  </a:cubicBezTo>
                  <a:lnTo>
                    <a:pt x="109728" y="4297680"/>
                  </a:lnTo>
                  <a:cubicBezTo>
                    <a:pt x="49149" y="4297680"/>
                    <a:pt x="0" y="4248531"/>
                    <a:pt x="0" y="418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5801868"/>
            <a:ext cx="1508760" cy="617220"/>
            <a:chOff x="0" y="0"/>
            <a:chExt cx="201168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11680" cy="822960"/>
            </a:xfrm>
            <a:custGeom>
              <a:avLst/>
              <a:gdLst/>
              <a:ahLst/>
              <a:cxnLst/>
              <a:rect r="r" b="b" t="t" l="l"/>
              <a:pathLst>
                <a:path h="82296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0116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674620" y="5856732"/>
            <a:ext cx="5966460" cy="966254"/>
            <a:chOff x="0" y="0"/>
            <a:chExt cx="7955280" cy="128833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955280" cy="1288339"/>
            </a:xfrm>
            <a:custGeom>
              <a:avLst/>
              <a:gdLst/>
              <a:ahLst/>
              <a:cxnLst/>
              <a:rect r="r" b="b" t="t" l="l"/>
              <a:pathLst>
                <a:path h="1288339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1288339"/>
                  </a:lnTo>
                  <a:lnTo>
                    <a:pt x="0" y="12883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378" r="0" b="-522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955280" cy="1288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Black-box models do not help reviewers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65860" y="6789420"/>
            <a:ext cx="7475220" cy="1440180"/>
            <a:chOff x="0" y="0"/>
            <a:chExt cx="996696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669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136" r="0" b="-5113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96696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classifier that only says “defective” without reasons cannot support a code-review decision.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64040" y="5417820"/>
            <a:ext cx="8298180" cy="3223260"/>
            <a:chOff x="0" y="0"/>
            <a:chExt cx="11064240" cy="4297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0642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4187952"/>
                  </a:lnTo>
                  <a:cubicBezTo>
                    <a:pt x="11064240" y="4248531"/>
                    <a:pt x="11015091" y="4297680"/>
                    <a:pt x="10954512" y="4297680"/>
                  </a:cubicBezTo>
                  <a:lnTo>
                    <a:pt x="109728" y="4297680"/>
                  </a:lnTo>
                  <a:cubicBezTo>
                    <a:pt x="49149" y="4297680"/>
                    <a:pt x="0" y="4248531"/>
                    <a:pt x="0" y="418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875520" y="5801868"/>
            <a:ext cx="1508760" cy="617220"/>
            <a:chOff x="0" y="0"/>
            <a:chExt cx="2011680" cy="8229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11680" cy="822960"/>
            </a:xfrm>
            <a:custGeom>
              <a:avLst/>
              <a:gdLst/>
              <a:ahLst/>
              <a:cxnLst/>
              <a:rect r="r" b="b" t="t" l="l"/>
              <a:pathLst>
                <a:path h="82296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0116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384280" y="5856732"/>
            <a:ext cx="5966460" cy="617220"/>
            <a:chOff x="0" y="0"/>
            <a:chExt cx="7955280" cy="822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955280" cy="822960"/>
            </a:xfrm>
            <a:custGeom>
              <a:avLst/>
              <a:gdLst/>
              <a:ahLst/>
              <a:cxnLst/>
              <a:rect r="r" b="b" t="t" l="l"/>
              <a:pathLst>
                <a:path h="82296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79552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NASA labels are binary, not severity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75520" y="6789420"/>
            <a:ext cx="7475220" cy="1440180"/>
            <a:chOff x="0" y="0"/>
            <a:chExt cx="9966960" cy="19202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9669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136" r="0" b="-5113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996696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CM1, JM1 and PC5 mark defective vs clean. They do not provide Low / Medium / High / Critical ground-truth bug severity.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 /  13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MOTIVATION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Why we chose this project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1783080"/>
            <a:ext cx="16733520" cy="1851660"/>
            <a:chOff x="0" y="0"/>
            <a:chExt cx="22311360" cy="2468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11361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311361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2201632" y="0"/>
                  </a:lnTo>
                  <a:cubicBezTo>
                    <a:pt x="22262212" y="0"/>
                    <a:pt x="22311361" y="49149"/>
                    <a:pt x="22311361" y="109728"/>
                  </a:cubicBezTo>
                  <a:lnTo>
                    <a:pt x="22311361" y="2359152"/>
                  </a:lnTo>
                  <a:cubicBezTo>
                    <a:pt x="22311361" y="2419731"/>
                    <a:pt x="22262212" y="2468880"/>
                    <a:pt x="22201632" y="2468880"/>
                  </a:cubicBezTo>
                  <a:lnTo>
                    <a:pt x="109728" y="2468880"/>
                  </a:lnTo>
                  <a:cubicBezTo>
                    <a:pt x="49149" y="2468880"/>
                    <a:pt x="0" y="2419731"/>
                    <a:pt x="0" y="2359152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125980"/>
            <a:ext cx="15910560" cy="1234440"/>
            <a:chOff x="0" y="0"/>
            <a:chExt cx="2121408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14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140" r="0" b="-20114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12140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</a:t>
              </a: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ware defects that slip into later phases cost far more to fix than ones caught in review. Testers cannot inspect every module, so they need a ranked list of what to look at first — not a single accuracy score.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3977640"/>
            <a:ext cx="8298180" cy="2331720"/>
            <a:chOff x="0" y="0"/>
            <a:chExt cx="11064240" cy="3108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642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2999232"/>
                  </a:lnTo>
                  <a:cubicBezTo>
                    <a:pt x="11064240" y="3059811"/>
                    <a:pt x="11015091" y="3108960"/>
                    <a:pt x="10954512" y="3108960"/>
                  </a:cubicBezTo>
                  <a:lnTo>
                    <a:pt x="109728" y="3108960"/>
                  </a:lnTo>
                  <a:cubicBezTo>
                    <a:pt x="49149" y="3108960"/>
                    <a:pt x="0" y="3059811"/>
                    <a:pt x="0" y="29992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54380" y="3977640"/>
            <a:ext cx="137160" cy="2331720"/>
            <a:chOff x="0" y="0"/>
            <a:chExt cx="182880" cy="3108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" y="4279392"/>
            <a:ext cx="7543800" cy="548640"/>
            <a:chOff x="0" y="0"/>
            <a:chExt cx="100584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0584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A real software-engineering need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4910328"/>
            <a:ext cx="7543800" cy="1097280"/>
            <a:chOff x="0" y="0"/>
            <a:chExt cx="1005840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0584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Defect prediction is a standard research problem, but testers need ranking, risk, and explanation — not accuracy alone.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64040" y="3977640"/>
            <a:ext cx="8298180" cy="2331720"/>
            <a:chOff x="0" y="0"/>
            <a:chExt cx="11064240" cy="3108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642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2999232"/>
                  </a:lnTo>
                  <a:cubicBezTo>
                    <a:pt x="11064240" y="3059811"/>
                    <a:pt x="11015091" y="3108960"/>
                    <a:pt x="10954512" y="3108960"/>
                  </a:cubicBezTo>
                  <a:lnTo>
                    <a:pt x="109728" y="3108960"/>
                  </a:lnTo>
                  <a:cubicBezTo>
                    <a:pt x="49149" y="3108960"/>
                    <a:pt x="0" y="3059811"/>
                    <a:pt x="0" y="29992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64040" y="3977640"/>
            <a:ext cx="137160" cy="2331720"/>
            <a:chOff x="0" y="0"/>
            <a:chExt cx="182880" cy="3108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28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944100" y="4279392"/>
            <a:ext cx="7543800" cy="548640"/>
            <a:chOff x="0" y="0"/>
            <a:chExt cx="100584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0584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A hybrid that is actually hybrid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44100" y="4910328"/>
            <a:ext cx="7543800" cy="1097280"/>
            <a:chOff x="0" y="0"/>
            <a:chExt cx="1005840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0584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Genetic algorithms pick a compact feature subset. A neural net estimates defect probability. Fuzzy rules turn that probability plus code metrics into an interpretable risk band.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4380" y="6583680"/>
            <a:ext cx="8298180" cy="2331720"/>
            <a:chOff x="0" y="0"/>
            <a:chExt cx="11064240" cy="3108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642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2999232"/>
                  </a:lnTo>
                  <a:cubicBezTo>
                    <a:pt x="11064240" y="3059811"/>
                    <a:pt x="11015091" y="3108960"/>
                    <a:pt x="10954512" y="3108960"/>
                  </a:cubicBezTo>
                  <a:lnTo>
                    <a:pt x="109728" y="3108960"/>
                  </a:lnTo>
                  <a:cubicBezTo>
                    <a:pt x="49149" y="3108960"/>
                    <a:pt x="0" y="3059811"/>
                    <a:pt x="0" y="29992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54380" y="6583680"/>
            <a:ext cx="137160" cy="2331720"/>
            <a:chOff x="0" y="0"/>
            <a:chExt cx="182880" cy="3108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6885432"/>
            <a:ext cx="7543800" cy="548640"/>
            <a:chOff x="0" y="0"/>
            <a:chExt cx="100584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00584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Honesty about NASA data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34440" y="7516368"/>
            <a:ext cx="7543800" cy="1097280"/>
            <a:chOff x="0" y="0"/>
            <a:chExt cx="1005840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5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0584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treat NASA labels as binary defect flags. Risk severity is derived. We do not present it as experimentally validated bug severity.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64040" y="6583680"/>
            <a:ext cx="8298180" cy="2331720"/>
            <a:chOff x="0" y="0"/>
            <a:chExt cx="11064240" cy="31089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642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2999232"/>
                  </a:lnTo>
                  <a:cubicBezTo>
                    <a:pt x="11064240" y="3059811"/>
                    <a:pt x="11015091" y="3108960"/>
                    <a:pt x="10954512" y="3108960"/>
                  </a:cubicBezTo>
                  <a:lnTo>
                    <a:pt x="109728" y="3108960"/>
                  </a:lnTo>
                  <a:cubicBezTo>
                    <a:pt x="49149" y="3108960"/>
                    <a:pt x="0" y="3059811"/>
                    <a:pt x="0" y="29992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64040" y="6583680"/>
            <a:ext cx="137160" cy="2331720"/>
            <a:chOff x="0" y="0"/>
            <a:chExt cx="182880" cy="3108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28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944100" y="6885432"/>
            <a:ext cx="7543800" cy="548640"/>
            <a:chOff x="0" y="0"/>
            <a:chExt cx="100584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00584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Reproducible science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944100" y="7516368"/>
            <a:ext cx="7543800" cy="1097280"/>
            <a:chOff x="0" y="0"/>
            <a:chExt cx="10058400" cy="1463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05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0584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Leakage-safe train/test split, SMOTE on training data only, saved artifacts, and tests. Every number on the dashboard must come from a trained model.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 /  13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NASA PROMISE / MDP defect datasets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1618488"/>
            <a:ext cx="16733520" cy="548640"/>
            <a:chOff x="0" y="0"/>
            <a:chExt cx="2231136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113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293" r="0" b="-54429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2311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software-metric datasets originally released by NASA’s Metrics Data Program and redistributed through the PROMISE Software Engineering Repository.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54380" y="2331720"/>
          <a:ext cx="16706850" cy="3200400"/>
        </p:xfrm>
        <a:graphic>
          <a:graphicData uri="http://schemas.openxmlformats.org/drawingml/2006/table">
            <a:tbl>
              <a:tblPr/>
              <a:tblGrid>
                <a:gridCol w="2063964"/>
                <a:gridCol w="5846647"/>
                <a:gridCol w="2063964"/>
                <a:gridCol w="2199060"/>
                <a:gridCol w="2063964"/>
                <a:gridCol w="2469251"/>
              </a:tblGrid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D4A84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D4A84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Project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D4A84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Language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D4A84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Modules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D4A84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D4A84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Defect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C2C2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CM1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NASA spacecraft instrument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9.83%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C2C2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JM1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Real-time predictive ground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10,885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19.35%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C2C2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PC5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Flight software, Earth-orbiting satellite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C++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17,186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38–39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C2C2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~2.9%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754380" y="5692140"/>
            <a:ext cx="16733520" cy="438912"/>
            <a:chOff x="0" y="0"/>
            <a:chExt cx="2231136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311361" cy="585216"/>
            </a:xfrm>
            <a:custGeom>
              <a:avLst/>
              <a:gdLst/>
              <a:ahLst/>
              <a:cxnLst/>
              <a:rect r="r" b="b" t="t" l="l"/>
              <a:pathLst>
                <a:path h="585216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2867" r="0" b="-69286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3113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Counts follow the widely cited PROMISE releases (Shirabad &amp; Menzies, 2005). Cleaned NASA variants differ slightly — we document which file is loaded.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4380" y="6240780"/>
            <a:ext cx="16733520" cy="438912"/>
            <a:chOff x="0" y="0"/>
            <a:chExt cx="2231136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311361" cy="585216"/>
            </a:xfrm>
            <a:custGeom>
              <a:avLst/>
              <a:gdLst/>
              <a:ahLst/>
              <a:cxnLst/>
              <a:rect r="r" b="b" t="t" l="l"/>
              <a:pathLst>
                <a:path h="585216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2867" r="0" b="-69286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23113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Official and citable sources  (links are clickable)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4380" y="6789420"/>
            <a:ext cx="8366760" cy="355439"/>
            <a:chOff x="0" y="0"/>
            <a:chExt cx="11155680" cy="4739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55680" cy="473918"/>
            </a:xfrm>
            <a:custGeom>
              <a:avLst/>
              <a:gdLst/>
              <a:ahLst/>
              <a:cxnLst/>
              <a:rect r="r" b="b" t="t" l="l"/>
              <a:pathLst>
                <a:path h="47391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6215" r="0" b="-4011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15568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IEEE Research Paper — Software Defect Prediction</a:t>
              </a:r>
              <a:r>
                <a:rPr lang="en-US" sz="18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→ 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4380" y="7091172"/>
            <a:ext cx="8366760" cy="328994"/>
            <a:chOff x="0" y="0"/>
            <a:chExt cx="11155680" cy="4386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55680" cy="438658"/>
            </a:xfrm>
            <a:custGeom>
              <a:avLst/>
              <a:gdLst/>
              <a:ahLst/>
              <a:cxnLst/>
              <a:rect r="r" b="b" t="t" l="l"/>
              <a:pathLst>
                <a:path h="43865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671" r="0" b="-4413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115568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u="sng">
                  <a:solidFill>
                    <a:srgbClr val="0E7C86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3" tooltip="https://ieeexplore.ieee.org/document/708428"/>
                </a:rPr>
                <a:t>https://ieeexplore.ieee.org/document/708428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64040" y="6789420"/>
            <a:ext cx="8366760" cy="355439"/>
            <a:chOff x="0" y="0"/>
            <a:chExt cx="11155680" cy="4739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155680" cy="473918"/>
            </a:xfrm>
            <a:custGeom>
              <a:avLst/>
              <a:gdLst/>
              <a:ahLst/>
              <a:cxnLst/>
              <a:rect r="r" b="b" t="t" l="l"/>
              <a:pathLst>
                <a:path h="47391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6215" r="0" b="-40111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15568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Interpretable Machine Learning — Explainable AI Reference  → 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64040" y="7091172"/>
            <a:ext cx="8366760" cy="328994"/>
            <a:chOff x="0" y="0"/>
            <a:chExt cx="11155680" cy="43865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55680" cy="438658"/>
            </a:xfrm>
            <a:custGeom>
              <a:avLst/>
              <a:gdLst/>
              <a:ahLst/>
              <a:cxnLst/>
              <a:rect r="r" b="b" t="t" l="l"/>
              <a:pathLst>
                <a:path h="43865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671" r="0" b="-44139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115568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u="sng">
                  <a:solidFill>
                    <a:srgbClr val="0E7C86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4" tooltip="https://christophm.github.io/interpretable-ml-book/"/>
                </a:rPr>
                <a:t>https://christophm.github.io/interpretable-ml-book/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54380" y="7543800"/>
            <a:ext cx="8366760" cy="355439"/>
            <a:chOff x="0" y="0"/>
            <a:chExt cx="11155680" cy="4739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55680" cy="473918"/>
            </a:xfrm>
            <a:custGeom>
              <a:avLst/>
              <a:gdLst/>
              <a:ahLst/>
              <a:cxnLst/>
              <a:rect r="r" b="b" t="t" l="l"/>
              <a:pathLst>
                <a:path h="47391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6215" r="0" b="-4011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115568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IEEE Research Paper — Software Engineering / Defect Analysis</a:t>
              </a:r>
              <a:r>
                <a:rPr lang="en-US" sz="18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→  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4380" y="7845552"/>
            <a:ext cx="8366760" cy="328994"/>
            <a:chOff x="0" y="0"/>
            <a:chExt cx="11155680" cy="4386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155680" cy="438658"/>
            </a:xfrm>
            <a:custGeom>
              <a:avLst/>
              <a:gdLst/>
              <a:ahLst/>
              <a:cxnLst/>
              <a:rect r="r" b="b" t="t" l="l"/>
              <a:pathLst>
                <a:path h="43865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671" r="0" b="-44139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115568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u="sng">
                  <a:solidFill>
                    <a:srgbClr val="0E7C8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https://ieeexplore.ieee.org/document/256541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64040" y="7543800"/>
            <a:ext cx="8366760" cy="355439"/>
            <a:chOff x="0" y="0"/>
            <a:chExt cx="11155680" cy="47391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55680" cy="473918"/>
            </a:xfrm>
            <a:custGeom>
              <a:avLst/>
              <a:gdLst/>
              <a:ahLst/>
              <a:cxnLst/>
              <a:rect r="r" b="b" t="t" l="l"/>
              <a:pathLst>
                <a:path h="47391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6215" r="0" b="-40111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115568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PyTorch 2.14 — Deep Learning Framework Documentation</a:t>
              </a:r>
              <a:r>
                <a:rPr lang="en-US" sz="18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→  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64040" y="7845552"/>
            <a:ext cx="8366760" cy="328994"/>
            <a:chOff x="0" y="0"/>
            <a:chExt cx="11155680" cy="4386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155680" cy="438658"/>
            </a:xfrm>
            <a:custGeom>
              <a:avLst/>
              <a:gdLst/>
              <a:ahLst/>
              <a:cxnLst/>
              <a:rect r="r" b="b" t="t" l="l"/>
              <a:pathLst>
                <a:path h="43865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671" r="0" b="-44139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115568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u="sng">
                  <a:solidFill>
                    <a:srgbClr val="0E7C86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tooltip="https://docs.pytorch.org/docs/2.14/index.html"/>
                </a:rPr>
                <a:t>https://docs.pytorch.org/docs/2.14/index.html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54380" y="8298180"/>
            <a:ext cx="8366760" cy="355439"/>
            <a:chOff x="0" y="0"/>
            <a:chExt cx="11155680" cy="47391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155680" cy="473918"/>
            </a:xfrm>
            <a:custGeom>
              <a:avLst/>
              <a:gdLst/>
              <a:ahLst/>
              <a:cxnLst/>
              <a:rect r="r" b="b" t="t" l="l"/>
              <a:pathLst>
                <a:path h="47391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6215" r="0" b="-40111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115568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Scikit-Fuzzy — Fuzzy Logic Toolkit Documentation</a:t>
              </a:r>
              <a:r>
                <a:rPr lang="en-US" sz="18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→  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4380" y="8599932"/>
            <a:ext cx="8366760" cy="328994"/>
            <a:chOff x="0" y="0"/>
            <a:chExt cx="11155680" cy="43865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155680" cy="438658"/>
            </a:xfrm>
            <a:custGeom>
              <a:avLst/>
              <a:gdLst/>
              <a:ahLst/>
              <a:cxnLst/>
              <a:rect r="r" b="b" t="t" l="l"/>
              <a:pathLst>
                <a:path h="43865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671" r="0" b="-44139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115568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u="sng">
                  <a:solidFill>
                    <a:srgbClr val="0E7C86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6" tooltip="https://scikit-fuzzy.readthedocs.io/en/latest/"/>
                </a:rPr>
                <a:t>https://scikit-fuzzy.readthedocs.io/en/latest/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 /  13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What each module looks like to the model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1851660"/>
            <a:ext cx="8298180" cy="3223260"/>
            <a:chOff x="0" y="0"/>
            <a:chExt cx="11064240" cy="4297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642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4187952"/>
                  </a:lnTo>
                  <a:cubicBezTo>
                    <a:pt x="11064240" y="4248531"/>
                    <a:pt x="11015091" y="4297680"/>
                    <a:pt x="10954512" y="4297680"/>
                  </a:cubicBezTo>
                  <a:lnTo>
                    <a:pt x="109728" y="4297680"/>
                  </a:lnTo>
                  <a:cubicBezTo>
                    <a:pt x="49149" y="4297680"/>
                    <a:pt x="0" y="4248531"/>
                    <a:pt x="0" y="418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263140"/>
            <a:ext cx="7406640" cy="617220"/>
            <a:chOff x="0" y="0"/>
            <a:chExt cx="987552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75520" cy="822960"/>
            </a:xfrm>
            <a:custGeom>
              <a:avLst/>
              <a:gdLst/>
              <a:ahLst/>
              <a:cxnLst/>
              <a:rect r="r" b="b" t="t" l="l"/>
              <a:pathLst>
                <a:path h="8229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87552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McCabe complexity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3086100"/>
            <a:ext cx="7406640" cy="1577340"/>
            <a:chOff x="0" y="0"/>
            <a:chExt cx="9875520" cy="2103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55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494" r="0" b="-4149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87552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Cyclomatic complexity v(g), essential complexity, design complexity, and branch count. These describe how many independent paths a tester must cover.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64040" y="1851660"/>
            <a:ext cx="8298180" cy="3223260"/>
            <a:chOff x="0" y="0"/>
            <a:chExt cx="11064240" cy="4297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642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4187952"/>
                  </a:lnTo>
                  <a:cubicBezTo>
                    <a:pt x="11064240" y="4248531"/>
                    <a:pt x="11015091" y="4297680"/>
                    <a:pt x="10954512" y="4297680"/>
                  </a:cubicBezTo>
                  <a:lnTo>
                    <a:pt x="109728" y="4297680"/>
                  </a:lnTo>
                  <a:cubicBezTo>
                    <a:pt x="49149" y="4297680"/>
                    <a:pt x="0" y="4248531"/>
                    <a:pt x="0" y="418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44100" y="2263140"/>
            <a:ext cx="7406640" cy="617220"/>
            <a:chOff x="0" y="0"/>
            <a:chExt cx="9875520" cy="82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75520" cy="822960"/>
            </a:xfrm>
            <a:custGeom>
              <a:avLst/>
              <a:gdLst/>
              <a:ahLst/>
              <a:cxnLst/>
              <a:rect r="r" b="b" t="t" l="l"/>
              <a:pathLst>
                <a:path h="8229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987552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Halstead software science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44100" y="3086100"/>
            <a:ext cx="7406640" cy="1577340"/>
            <a:chOff x="0" y="0"/>
            <a:chExt cx="9875520" cy="2103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755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494" r="0" b="-4149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87552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Length, volume, difficulty, effort, and time estimates from operator and operand counts. Dense, “effort-heavy” modules are historically defect-prone.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4380" y="5349240"/>
            <a:ext cx="8298180" cy="3223260"/>
            <a:chOff x="0" y="0"/>
            <a:chExt cx="11064240" cy="4297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642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4187952"/>
                  </a:lnTo>
                  <a:cubicBezTo>
                    <a:pt x="11064240" y="4248531"/>
                    <a:pt x="11015091" y="4297680"/>
                    <a:pt x="10954512" y="4297680"/>
                  </a:cubicBezTo>
                  <a:lnTo>
                    <a:pt x="109728" y="4297680"/>
                  </a:lnTo>
                  <a:cubicBezTo>
                    <a:pt x="49149" y="4297680"/>
                    <a:pt x="0" y="4248531"/>
                    <a:pt x="0" y="418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" y="5760720"/>
            <a:ext cx="7406640" cy="617220"/>
            <a:chOff x="0" y="0"/>
            <a:chExt cx="9875520" cy="82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75520" cy="822960"/>
            </a:xfrm>
            <a:custGeom>
              <a:avLst/>
              <a:gdLst/>
              <a:ahLst/>
              <a:cxnLst/>
              <a:rect r="r" b="b" t="t" l="l"/>
              <a:pathLst>
                <a:path h="8229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987552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Size &amp; comments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6583680"/>
            <a:ext cx="7406640" cy="1577340"/>
            <a:chOff x="0" y="0"/>
            <a:chExt cx="9875520" cy="2103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8755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494" r="0" b="-4149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987552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Lines of code, blank lines, comment lines. Size alone is not destiny — but large modules with high branching raise review cost.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64040" y="5349240"/>
            <a:ext cx="8298180" cy="3223260"/>
            <a:chOff x="0" y="0"/>
            <a:chExt cx="11064240" cy="4297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642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1064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954512" y="0"/>
                  </a:lnTo>
                  <a:cubicBezTo>
                    <a:pt x="11015091" y="0"/>
                    <a:pt x="11064240" y="49149"/>
                    <a:pt x="11064240" y="109728"/>
                  </a:cubicBezTo>
                  <a:lnTo>
                    <a:pt x="11064240" y="4187952"/>
                  </a:lnTo>
                  <a:cubicBezTo>
                    <a:pt x="11064240" y="4248531"/>
                    <a:pt x="11015091" y="4297680"/>
                    <a:pt x="10954512" y="4297680"/>
                  </a:cubicBezTo>
                  <a:lnTo>
                    <a:pt x="109728" y="4297680"/>
                  </a:lnTo>
                  <a:cubicBezTo>
                    <a:pt x="49149" y="4297680"/>
                    <a:pt x="0" y="4248531"/>
                    <a:pt x="0" y="4187952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944100" y="5760720"/>
            <a:ext cx="7406640" cy="617220"/>
            <a:chOff x="0" y="0"/>
            <a:chExt cx="9875520" cy="822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75520" cy="822960"/>
            </a:xfrm>
            <a:custGeom>
              <a:avLst/>
              <a:gdLst/>
              <a:ahLst/>
              <a:cxnLst/>
              <a:rect r="r" b="b" t="t" l="l"/>
              <a:pathLst>
                <a:path h="8229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987552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Binary defect label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944100" y="6583680"/>
            <a:ext cx="7406640" cy="1577340"/>
            <a:chOff x="0" y="0"/>
            <a:chExt cx="9875520" cy="2103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8755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494" r="0" b="-4149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987552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defects = true if the module had one or more faults. This is the only ground-truth target. Severity is not in the file.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 /  13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DESIGN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End-to-end pipeline — leakage-safe by construction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7220" y="1988820"/>
            <a:ext cx="2674620" cy="3497580"/>
            <a:chOff x="0" y="0"/>
            <a:chExt cx="3566160" cy="466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661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9856" y="0"/>
                  </a:lnTo>
                  <a:cubicBezTo>
                    <a:pt x="3500628" y="0"/>
                    <a:pt x="3566160" y="65532"/>
                    <a:pt x="3566160" y="146304"/>
                  </a:cubicBezTo>
                  <a:lnTo>
                    <a:pt x="3566160" y="4517136"/>
                  </a:lnTo>
                  <a:cubicBezTo>
                    <a:pt x="3566160" y="4597908"/>
                    <a:pt x="3500628" y="4663440"/>
                    <a:pt x="341985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7612" y="2221992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67612" y="2400300"/>
            <a:ext cx="960120" cy="617220"/>
            <a:chOff x="0" y="0"/>
            <a:chExt cx="128016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F1B3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4380" y="3319272"/>
            <a:ext cx="2400300" cy="1165860"/>
            <a:chOff x="0" y="0"/>
            <a:chExt cx="320040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00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318" t="0" r="-1231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2004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Load &amp;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validate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4380" y="4526280"/>
            <a:ext cx="2400300" cy="754380"/>
            <a:chOff x="0" y="0"/>
            <a:chExt cx="320040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/ XLSX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 check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250692" y="3429000"/>
            <a:ext cx="356616" cy="301752"/>
            <a:chOff x="0" y="0"/>
            <a:chExt cx="475488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566160" y="1988820"/>
            <a:ext cx="2674620" cy="3497580"/>
            <a:chOff x="0" y="0"/>
            <a:chExt cx="3566160" cy="466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661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9856" y="0"/>
                  </a:lnTo>
                  <a:cubicBezTo>
                    <a:pt x="3500628" y="0"/>
                    <a:pt x="3566160" y="65532"/>
                    <a:pt x="3566160" y="146304"/>
                  </a:cubicBezTo>
                  <a:lnTo>
                    <a:pt x="3566160" y="4517136"/>
                  </a:lnTo>
                  <a:cubicBezTo>
                    <a:pt x="3566160" y="4597908"/>
                    <a:pt x="3500628" y="4663440"/>
                    <a:pt x="341985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416552" y="2221992"/>
            <a:ext cx="960120" cy="960120"/>
            <a:chOff x="0" y="0"/>
            <a:chExt cx="128016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416552" y="2400300"/>
            <a:ext cx="960120" cy="617220"/>
            <a:chOff x="0" y="0"/>
            <a:chExt cx="1280160" cy="822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F1B3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703320" y="3319272"/>
            <a:ext cx="2400300" cy="1165860"/>
            <a:chOff x="0" y="0"/>
            <a:chExt cx="3200400" cy="1554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00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318" t="0" r="-1231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2004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Clean &amp;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split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703320" y="4526280"/>
            <a:ext cx="2400300" cy="754380"/>
            <a:chOff x="0" y="0"/>
            <a:chExt cx="3200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Stratified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/ test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199632" y="3429000"/>
            <a:ext cx="356616" cy="301752"/>
            <a:chOff x="0" y="0"/>
            <a:chExt cx="475488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515100" y="1988820"/>
            <a:ext cx="2674620" cy="3497580"/>
            <a:chOff x="0" y="0"/>
            <a:chExt cx="3566160" cy="466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661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9856" y="0"/>
                  </a:lnTo>
                  <a:cubicBezTo>
                    <a:pt x="3500628" y="0"/>
                    <a:pt x="3566160" y="65532"/>
                    <a:pt x="3566160" y="146304"/>
                  </a:cubicBezTo>
                  <a:lnTo>
                    <a:pt x="3566160" y="4517136"/>
                  </a:lnTo>
                  <a:cubicBezTo>
                    <a:pt x="3566160" y="4597908"/>
                    <a:pt x="3500628" y="4663440"/>
                    <a:pt x="341985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365492" y="2221992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365492" y="2400300"/>
            <a:ext cx="960120" cy="617220"/>
            <a:chOff x="0" y="0"/>
            <a:chExt cx="1280160" cy="822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F1B3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652260" y="3319272"/>
            <a:ext cx="2400300" cy="1165860"/>
            <a:chOff x="0" y="0"/>
            <a:chExt cx="3200400" cy="1554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00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318" t="0" r="-1231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2004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Preprocess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+ SMOTE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652260" y="4526280"/>
            <a:ext cx="2400300" cy="754380"/>
            <a:chOff x="0" y="0"/>
            <a:chExt cx="3200400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 on train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8572" y="3429000"/>
            <a:ext cx="356616" cy="301752"/>
            <a:chOff x="0" y="0"/>
            <a:chExt cx="475488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464040" y="1988820"/>
            <a:ext cx="2674620" cy="3497580"/>
            <a:chOff x="0" y="0"/>
            <a:chExt cx="3566160" cy="4663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5661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9856" y="0"/>
                  </a:lnTo>
                  <a:cubicBezTo>
                    <a:pt x="3500628" y="0"/>
                    <a:pt x="3566160" y="65532"/>
                    <a:pt x="3566160" y="146304"/>
                  </a:cubicBezTo>
                  <a:lnTo>
                    <a:pt x="3566160" y="4517136"/>
                  </a:lnTo>
                  <a:cubicBezTo>
                    <a:pt x="3566160" y="4597908"/>
                    <a:pt x="3500628" y="4663440"/>
                    <a:pt x="341985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314432" y="2221992"/>
            <a:ext cx="960120" cy="960120"/>
            <a:chOff x="0" y="0"/>
            <a:chExt cx="1280160" cy="12801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314432" y="2400300"/>
            <a:ext cx="960120" cy="617220"/>
            <a:chOff x="0" y="0"/>
            <a:chExt cx="1280160" cy="822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F1B3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01200" y="3319272"/>
            <a:ext cx="2400300" cy="1165860"/>
            <a:chOff x="0" y="0"/>
            <a:chExt cx="3200400" cy="15544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00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318" t="0" r="-12318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2004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GA feature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selection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01200" y="4526280"/>
            <a:ext cx="2400300" cy="754380"/>
            <a:chOff x="0" y="0"/>
            <a:chExt cx="3200400" cy="1005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Compact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subset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097512" y="3429000"/>
            <a:ext cx="356616" cy="301752"/>
            <a:chOff x="0" y="0"/>
            <a:chExt cx="475488" cy="4023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412980" y="1988820"/>
            <a:ext cx="2674620" cy="3497580"/>
            <a:chOff x="0" y="0"/>
            <a:chExt cx="3566160" cy="46634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5661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9856" y="0"/>
                  </a:lnTo>
                  <a:cubicBezTo>
                    <a:pt x="3500628" y="0"/>
                    <a:pt x="3566160" y="65532"/>
                    <a:pt x="3566160" y="146304"/>
                  </a:cubicBezTo>
                  <a:lnTo>
                    <a:pt x="3566160" y="4517136"/>
                  </a:lnTo>
                  <a:cubicBezTo>
                    <a:pt x="3566160" y="4597908"/>
                    <a:pt x="3500628" y="4663440"/>
                    <a:pt x="341985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263372" y="2221992"/>
            <a:ext cx="960120" cy="960120"/>
            <a:chOff x="0" y="0"/>
            <a:chExt cx="1280160" cy="12801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263372" y="2400300"/>
            <a:ext cx="960120" cy="617220"/>
            <a:chOff x="0" y="0"/>
            <a:chExt cx="1280160" cy="8229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F1B3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550140" y="3319272"/>
            <a:ext cx="2400300" cy="1165860"/>
            <a:chOff x="0" y="0"/>
            <a:chExt cx="3200400" cy="15544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00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318" t="0" r="-12318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32004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BPN neural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predictor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550140" y="4526280"/>
            <a:ext cx="2400300" cy="754380"/>
            <a:chOff x="0" y="0"/>
            <a:chExt cx="3200400" cy="10058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Defect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probability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046452" y="3429000"/>
            <a:ext cx="356616" cy="301752"/>
            <a:chOff x="0" y="0"/>
            <a:chExt cx="475488" cy="40233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5361920" y="1988820"/>
            <a:ext cx="2674620" cy="3497580"/>
            <a:chOff x="0" y="0"/>
            <a:chExt cx="3566160" cy="46634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5661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9856" y="0"/>
                  </a:lnTo>
                  <a:cubicBezTo>
                    <a:pt x="3500628" y="0"/>
                    <a:pt x="3566160" y="65532"/>
                    <a:pt x="3566160" y="146304"/>
                  </a:cubicBezTo>
                  <a:lnTo>
                    <a:pt x="3566160" y="4517136"/>
                  </a:lnTo>
                  <a:cubicBezTo>
                    <a:pt x="3566160" y="4597908"/>
                    <a:pt x="3500628" y="4663440"/>
                    <a:pt x="341985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6212312" y="2221992"/>
            <a:ext cx="960120" cy="960120"/>
            <a:chOff x="0" y="0"/>
            <a:chExt cx="1280160" cy="12801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6212312" y="2400300"/>
            <a:ext cx="960120" cy="617220"/>
            <a:chOff x="0" y="0"/>
            <a:chExt cx="1280160" cy="8229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80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1280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F1B3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6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499080" y="3319272"/>
            <a:ext cx="2400300" cy="1165860"/>
            <a:chOff x="0" y="0"/>
            <a:chExt cx="3200400" cy="15544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200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318" t="0" r="-12318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32004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Fuzzy risk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engine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499080" y="4526280"/>
            <a:ext cx="2400300" cy="754380"/>
            <a:chOff x="0" y="0"/>
            <a:chExt cx="3200400" cy="10058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Severity +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8E4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rules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54380" y="5829300"/>
            <a:ext cx="16733520" cy="480060"/>
            <a:chOff x="0" y="0"/>
            <a:chExt cx="22311360" cy="6400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311361" cy="640080"/>
            </a:xfrm>
            <a:custGeom>
              <a:avLst/>
              <a:gdLst/>
              <a:ahLst/>
              <a:cxnLst/>
              <a:rect r="r" b="b" t="t" l="l"/>
              <a:pathLst>
                <a:path h="64008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9192" r="0" b="-62919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223113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Non-negotiable data-leakage rules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54380" y="6446520"/>
            <a:ext cx="8298180" cy="987552"/>
            <a:chOff x="0" y="0"/>
            <a:chExt cx="11064240" cy="131673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064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225296"/>
                  </a:lnTo>
                  <a:cubicBezTo>
                    <a:pt x="11064240" y="1275842"/>
                    <a:pt x="11023346" y="1316736"/>
                    <a:pt x="10972800" y="1316736"/>
                  </a:cubicBezTo>
                  <a:lnTo>
                    <a:pt x="91440" y="1316736"/>
                  </a:lnTo>
                  <a:cubicBezTo>
                    <a:pt x="40894" y="1316736"/>
                    <a:pt x="0" y="1275842"/>
                    <a:pt x="0" y="1225296"/>
                  </a:cubicBezTo>
                  <a:close/>
                </a:path>
              </a:pathLst>
            </a:custGeom>
            <a:solidFill>
              <a:srgbClr val="E6F4F5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097280" y="6665976"/>
            <a:ext cx="7612380" cy="576072"/>
            <a:chOff x="0" y="0"/>
            <a:chExt cx="10149840" cy="76809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149840" cy="768096"/>
            </a:xfrm>
            <a:custGeom>
              <a:avLst/>
              <a:gdLst/>
              <a:ahLst/>
              <a:cxnLst/>
              <a:rect r="r" b="b" t="t" l="l"/>
              <a:pathLst>
                <a:path h="76809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101498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Never fit a scaler on the full dataset before splitting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464040" y="6446520"/>
            <a:ext cx="8298180" cy="987552"/>
            <a:chOff x="0" y="0"/>
            <a:chExt cx="11064240" cy="131673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1064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225296"/>
                  </a:lnTo>
                  <a:cubicBezTo>
                    <a:pt x="11064240" y="1275842"/>
                    <a:pt x="11023346" y="1316736"/>
                    <a:pt x="10972800" y="1316736"/>
                  </a:cubicBezTo>
                  <a:lnTo>
                    <a:pt x="91440" y="1316736"/>
                  </a:lnTo>
                  <a:cubicBezTo>
                    <a:pt x="40894" y="1316736"/>
                    <a:pt x="0" y="1275842"/>
                    <a:pt x="0" y="1225296"/>
                  </a:cubicBezTo>
                  <a:close/>
                </a:path>
              </a:pathLst>
            </a:custGeom>
            <a:solidFill>
              <a:srgbClr val="E6F4F5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806940" y="6665976"/>
            <a:ext cx="7612380" cy="576072"/>
            <a:chOff x="0" y="0"/>
            <a:chExt cx="10149840" cy="76809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149840" cy="768096"/>
            </a:xfrm>
            <a:custGeom>
              <a:avLst/>
              <a:gdLst/>
              <a:ahLst/>
              <a:cxnLst/>
              <a:rect r="r" b="b" t="t" l="l"/>
              <a:pathLst>
                <a:path h="76809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101498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Never apply SMOTE to validation or test data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754380" y="7612380"/>
            <a:ext cx="8298180" cy="987552"/>
            <a:chOff x="0" y="0"/>
            <a:chExt cx="11064240" cy="131673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064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225296"/>
                  </a:lnTo>
                  <a:cubicBezTo>
                    <a:pt x="11064240" y="1275842"/>
                    <a:pt x="11023346" y="1316736"/>
                    <a:pt x="10972800" y="1316736"/>
                  </a:cubicBezTo>
                  <a:lnTo>
                    <a:pt x="91440" y="1316736"/>
                  </a:lnTo>
                  <a:cubicBezTo>
                    <a:pt x="40894" y="1316736"/>
                    <a:pt x="0" y="1275842"/>
                    <a:pt x="0" y="1225296"/>
                  </a:cubicBezTo>
                  <a:close/>
                </a:path>
              </a:pathLst>
            </a:custGeom>
            <a:solidFill>
              <a:srgbClr val="E6F4F5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97280" y="7831836"/>
            <a:ext cx="7612380" cy="576072"/>
            <a:chOff x="0" y="0"/>
            <a:chExt cx="10149840" cy="76809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149840" cy="768096"/>
            </a:xfrm>
            <a:custGeom>
              <a:avLst/>
              <a:gdLst/>
              <a:ahLst/>
              <a:cxnLst/>
              <a:rect r="r" b="b" t="t" l="l"/>
              <a:pathLst>
                <a:path h="76809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101498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Never run GA feature selection on the complete dataset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464040" y="7612380"/>
            <a:ext cx="8298180" cy="987552"/>
            <a:chOff x="0" y="0"/>
            <a:chExt cx="11064240" cy="131673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064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225296"/>
                  </a:lnTo>
                  <a:cubicBezTo>
                    <a:pt x="11064240" y="1275842"/>
                    <a:pt x="11023346" y="1316736"/>
                    <a:pt x="10972800" y="1316736"/>
                  </a:cubicBezTo>
                  <a:lnTo>
                    <a:pt x="91440" y="1316736"/>
                  </a:lnTo>
                  <a:cubicBezTo>
                    <a:pt x="40894" y="1316736"/>
                    <a:pt x="0" y="1275842"/>
                    <a:pt x="0" y="1225296"/>
                  </a:cubicBezTo>
                  <a:close/>
                </a:path>
              </a:pathLst>
            </a:custGeom>
            <a:solidFill>
              <a:srgbClr val="E6F4F5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806940" y="7831836"/>
            <a:ext cx="7612380" cy="576072"/>
            <a:chOff x="0" y="0"/>
            <a:chExt cx="10149840" cy="76809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149840" cy="768096"/>
            </a:xfrm>
            <a:custGeom>
              <a:avLst/>
              <a:gdLst/>
              <a:ahLst/>
              <a:cxnLst/>
              <a:rect r="r" b="b" t="t" l="l"/>
              <a:pathLst>
                <a:path h="76809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101498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Never tune hyperparameters on the test set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 /  13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Three parts, one decision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1783080"/>
            <a:ext cx="5417820" cy="7132320"/>
            <a:chOff x="0" y="0"/>
            <a:chExt cx="7223760" cy="9509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23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1783080"/>
            <a:ext cx="5417820" cy="2331720"/>
            <a:chOff x="0" y="0"/>
            <a:chExt cx="7223760" cy="3108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37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1947672"/>
            <a:ext cx="4732020" cy="438912"/>
            <a:chOff x="0" y="0"/>
            <a:chExt cx="630936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09360" cy="585216"/>
            </a:xfrm>
            <a:custGeom>
              <a:avLst/>
              <a:gdLst/>
              <a:ahLst/>
              <a:cxnLst/>
              <a:rect r="r" b="b" t="t" l="l"/>
              <a:pathLst>
                <a:path h="58521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073" r="0" b="-1600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3093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D4A8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2441448"/>
            <a:ext cx="4732020" cy="1440180"/>
            <a:chOff x="0" y="0"/>
            <a:chExt cx="6309360" cy="1920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09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30936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Genetic algorithm</a:t>
              </a:r>
            </a:p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feature selection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3292" y="4622292"/>
            <a:ext cx="219456" cy="219456"/>
            <a:chOff x="0" y="0"/>
            <a:chExt cx="292608" cy="292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77340" y="4457700"/>
            <a:ext cx="4251960" cy="822960"/>
            <a:chOff x="0" y="0"/>
            <a:chExt cx="5669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Chromosome = binary mask over metrics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3292" y="5609844"/>
            <a:ext cx="219456" cy="219456"/>
            <a:chOff x="0" y="0"/>
            <a:chExt cx="292608" cy="2926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77340" y="5445252"/>
            <a:ext cx="4251960" cy="822960"/>
            <a:chOff x="0" y="0"/>
            <a:chExt cx="566928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Fitness = F1 / MCC − λ × feature ratio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93292" y="6597396"/>
            <a:ext cx="219456" cy="219456"/>
            <a:chOff x="0" y="0"/>
            <a:chExt cx="292608" cy="2926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77340" y="6432804"/>
            <a:ext cx="4251960" cy="822960"/>
            <a:chOff x="0" y="0"/>
            <a:chExt cx="56692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Avoids “use every NASA metric”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3292" y="7584948"/>
            <a:ext cx="219456" cy="219456"/>
            <a:chOff x="0" y="0"/>
            <a:chExt cx="292608" cy="2926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77340" y="7420356"/>
            <a:ext cx="4251960" cy="822960"/>
            <a:chOff x="0" y="0"/>
            <a:chExt cx="56692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on training data only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515100" y="1783080"/>
            <a:ext cx="5417820" cy="7132320"/>
            <a:chOff x="0" y="0"/>
            <a:chExt cx="7223760" cy="95097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23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515100" y="1783080"/>
            <a:ext cx="5417820" cy="2331720"/>
            <a:chOff x="0" y="0"/>
            <a:chExt cx="7223760" cy="3108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237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0" y="1947672"/>
            <a:ext cx="4732020" cy="438912"/>
            <a:chOff x="0" y="0"/>
            <a:chExt cx="630936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09360" cy="585216"/>
            </a:xfrm>
            <a:custGeom>
              <a:avLst/>
              <a:gdLst/>
              <a:ahLst/>
              <a:cxnLst/>
              <a:rect r="r" b="b" t="t" l="l"/>
              <a:pathLst>
                <a:path h="58521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073" r="0" b="-16007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3093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D4A8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58000" y="2441448"/>
            <a:ext cx="4732020" cy="1440180"/>
            <a:chOff x="0" y="0"/>
            <a:chExt cx="6309360" cy="1920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09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630936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BPN neural</a:t>
              </a:r>
            </a:p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defect predictor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54012" y="4622292"/>
            <a:ext cx="219456" cy="219456"/>
            <a:chOff x="0" y="0"/>
            <a:chExt cx="292608" cy="2926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338060" y="4457700"/>
            <a:ext cx="4251960" cy="822960"/>
            <a:chOff x="0" y="0"/>
            <a:chExt cx="566928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Dense 64 → ReLU → Dropout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954012" y="5609844"/>
            <a:ext cx="219456" cy="219456"/>
            <a:chOff x="0" y="0"/>
            <a:chExt cx="292608" cy="2926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338060" y="5445252"/>
            <a:ext cx="4251960" cy="822960"/>
            <a:chOff x="0" y="0"/>
            <a:chExt cx="566928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Dense 32 → ReLU → Dropout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954012" y="6597396"/>
            <a:ext cx="219456" cy="219456"/>
            <a:chOff x="0" y="0"/>
            <a:chExt cx="292608" cy="2926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338060" y="6432804"/>
            <a:ext cx="4251960" cy="822960"/>
            <a:chOff x="0" y="0"/>
            <a:chExt cx="566928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Dense 1 → Sigmoid probability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954012" y="7584948"/>
            <a:ext cx="219456" cy="219456"/>
            <a:chOff x="0" y="0"/>
            <a:chExt cx="292608" cy="2926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338060" y="7420356"/>
            <a:ext cx="4251960" cy="822960"/>
            <a:chOff x="0" y="0"/>
            <a:chExt cx="566928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SGD with momentum, or Adam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275820" y="1783080"/>
            <a:ext cx="5417820" cy="7132320"/>
            <a:chOff x="0" y="0"/>
            <a:chExt cx="7223760" cy="95097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223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275820" y="1783080"/>
            <a:ext cx="5417820" cy="2331720"/>
            <a:chOff x="0" y="0"/>
            <a:chExt cx="7223760" cy="31089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237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618720" y="1947672"/>
            <a:ext cx="4732020" cy="438912"/>
            <a:chOff x="0" y="0"/>
            <a:chExt cx="6309360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309360" cy="585216"/>
            </a:xfrm>
            <a:custGeom>
              <a:avLst/>
              <a:gdLst/>
              <a:ahLst/>
              <a:cxnLst/>
              <a:rect r="r" b="b" t="t" l="l"/>
              <a:pathLst>
                <a:path h="58521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073" r="0" b="-16007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3093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D4A8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FZ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618720" y="2441448"/>
            <a:ext cx="4732020" cy="1440180"/>
            <a:chOff x="0" y="0"/>
            <a:chExt cx="6309360" cy="19202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309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630936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Fuzzy risk</a:t>
              </a:r>
            </a:p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assessment engine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714732" y="4622292"/>
            <a:ext cx="219456" cy="219456"/>
            <a:chOff x="0" y="0"/>
            <a:chExt cx="292608" cy="2926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098780" y="4457700"/>
            <a:ext cx="4251960" cy="822960"/>
            <a:chOff x="0" y="0"/>
            <a:chExt cx="5669280" cy="1097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Inputs: complexity, LOC, volume…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714732" y="5609844"/>
            <a:ext cx="219456" cy="219456"/>
            <a:chOff x="0" y="0"/>
            <a:chExt cx="292608" cy="29260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098780" y="5445252"/>
            <a:ext cx="4251960" cy="822960"/>
            <a:chOff x="0" y="0"/>
            <a:chExt cx="5669280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Plus neural defect probability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714732" y="6597396"/>
            <a:ext cx="219456" cy="219456"/>
            <a:chOff x="0" y="0"/>
            <a:chExt cx="292608" cy="29260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098780" y="6432804"/>
            <a:ext cx="4251960" cy="822960"/>
            <a:chOff x="0" y="0"/>
            <a:chExt cx="5669280" cy="10972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~14 documented Mamdani rules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714732" y="7584948"/>
            <a:ext cx="219456" cy="219456"/>
            <a:chOff x="0" y="0"/>
            <a:chExt cx="292608" cy="29260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098780" y="7420356"/>
            <a:ext cx="4251960" cy="822960"/>
            <a:chOff x="0" y="0"/>
            <a:chExt cx="5669280" cy="10972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5669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Output: Low / Med / High / Critical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 /  13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Technology stack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1783080"/>
            <a:ext cx="8298180" cy="1234440"/>
            <a:chOff x="0" y="0"/>
            <a:chExt cx="1106424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64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554480"/>
                  </a:lnTo>
                  <a:cubicBezTo>
                    <a:pt x="11064240" y="1605026"/>
                    <a:pt x="11023346" y="1645920"/>
                    <a:pt x="10972800" y="1645920"/>
                  </a:cubicBezTo>
                  <a:lnTo>
                    <a:pt x="91440" y="1645920"/>
                  </a:lnTo>
                  <a:cubicBezTo>
                    <a:pt x="40894" y="1645920"/>
                    <a:pt x="0" y="1605026"/>
                    <a:pt x="0" y="1554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1783080"/>
            <a:ext cx="137160" cy="1234440"/>
            <a:chOff x="0" y="0"/>
            <a:chExt cx="18288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1920240"/>
            <a:ext cx="7543800" cy="384048"/>
            <a:chOff x="0" y="0"/>
            <a:chExt cx="10058400" cy="512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0584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E7C8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Language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5860" y="2359152"/>
            <a:ext cx="7543800" cy="480060"/>
            <a:chOff x="0" y="0"/>
            <a:chExt cx="1005840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0584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3.11 / 3.12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64040" y="1783080"/>
            <a:ext cx="8298180" cy="1234440"/>
            <a:chOff x="0" y="0"/>
            <a:chExt cx="1106424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64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554480"/>
                  </a:lnTo>
                  <a:cubicBezTo>
                    <a:pt x="11064240" y="1605026"/>
                    <a:pt x="11023346" y="1645920"/>
                    <a:pt x="10972800" y="1645920"/>
                  </a:cubicBezTo>
                  <a:lnTo>
                    <a:pt x="91440" y="1645920"/>
                  </a:lnTo>
                  <a:cubicBezTo>
                    <a:pt x="40894" y="1645920"/>
                    <a:pt x="0" y="1605026"/>
                    <a:pt x="0" y="1554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64040" y="1783080"/>
            <a:ext cx="137160" cy="1234440"/>
            <a:chOff x="0" y="0"/>
            <a:chExt cx="18288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75520" y="1920240"/>
            <a:ext cx="7543800" cy="384048"/>
            <a:chOff x="0" y="0"/>
            <a:chExt cx="10058400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00584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E7C8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Data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75520" y="2359152"/>
            <a:ext cx="7543800" cy="480060"/>
            <a:chOff x="0" y="0"/>
            <a:chExt cx="100584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0584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  ·  NumPy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4380" y="3223260"/>
            <a:ext cx="8298180" cy="1234440"/>
            <a:chOff x="0" y="0"/>
            <a:chExt cx="11064240" cy="1645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64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554480"/>
                  </a:lnTo>
                  <a:cubicBezTo>
                    <a:pt x="11064240" y="1605026"/>
                    <a:pt x="11023346" y="1645920"/>
                    <a:pt x="10972800" y="1645920"/>
                  </a:cubicBezTo>
                  <a:lnTo>
                    <a:pt x="91440" y="1645920"/>
                  </a:lnTo>
                  <a:cubicBezTo>
                    <a:pt x="40894" y="1645920"/>
                    <a:pt x="0" y="1605026"/>
                    <a:pt x="0" y="1554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54380" y="3223260"/>
            <a:ext cx="137160" cy="1234440"/>
            <a:chOff x="0" y="0"/>
            <a:chExt cx="18288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2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3360420"/>
            <a:ext cx="7543800" cy="384048"/>
            <a:chOff x="0" y="0"/>
            <a:chExt cx="10058400" cy="5120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00584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E7C8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Classical ML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65860" y="3799332"/>
            <a:ext cx="7543800" cy="480060"/>
            <a:chOff x="0" y="0"/>
            <a:chExt cx="1005840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00584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scikit-learn  ·  Logistic, RF, SVM, Majority baseline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64040" y="3223260"/>
            <a:ext cx="8298180" cy="1234440"/>
            <a:chOff x="0" y="0"/>
            <a:chExt cx="11064240" cy="1645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064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554480"/>
                  </a:lnTo>
                  <a:cubicBezTo>
                    <a:pt x="11064240" y="1605026"/>
                    <a:pt x="11023346" y="1645920"/>
                    <a:pt x="10972800" y="1645920"/>
                  </a:cubicBezTo>
                  <a:lnTo>
                    <a:pt x="91440" y="1645920"/>
                  </a:lnTo>
                  <a:cubicBezTo>
                    <a:pt x="40894" y="1645920"/>
                    <a:pt x="0" y="1605026"/>
                    <a:pt x="0" y="1554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464040" y="3223260"/>
            <a:ext cx="137160" cy="1234440"/>
            <a:chOff x="0" y="0"/>
            <a:chExt cx="182880" cy="16459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2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75520" y="3360420"/>
            <a:ext cx="7543800" cy="384048"/>
            <a:chOff x="0" y="0"/>
            <a:chExt cx="10058400" cy="5120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00584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E7C8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Neural net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875520" y="3799332"/>
            <a:ext cx="7543800" cy="480060"/>
            <a:chOff x="0" y="0"/>
            <a:chExt cx="1005840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00584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PyTorch BPN  (NumPy fallback if needed)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54380" y="4663440"/>
            <a:ext cx="8298180" cy="1234440"/>
            <a:chOff x="0" y="0"/>
            <a:chExt cx="11064240" cy="16459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064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554480"/>
                  </a:lnTo>
                  <a:cubicBezTo>
                    <a:pt x="11064240" y="1605026"/>
                    <a:pt x="11023346" y="1645920"/>
                    <a:pt x="10972800" y="1645920"/>
                  </a:cubicBezTo>
                  <a:lnTo>
                    <a:pt x="91440" y="1645920"/>
                  </a:lnTo>
                  <a:cubicBezTo>
                    <a:pt x="40894" y="1645920"/>
                    <a:pt x="0" y="1605026"/>
                    <a:pt x="0" y="1554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54380" y="4663440"/>
            <a:ext cx="137160" cy="1234440"/>
            <a:chOff x="0" y="0"/>
            <a:chExt cx="182880" cy="1645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2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65860" y="4800600"/>
            <a:ext cx="7543800" cy="384048"/>
            <a:chOff x="0" y="0"/>
            <a:chExt cx="10058400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00584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E7C8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Genetic algorithm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65860" y="5239512"/>
            <a:ext cx="7543800" cy="480060"/>
            <a:chOff x="0" y="0"/>
            <a:chExt cx="1005840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100584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464040" y="4663440"/>
            <a:ext cx="8298180" cy="1234440"/>
            <a:chOff x="0" y="0"/>
            <a:chExt cx="11064240" cy="16459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064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554480"/>
                  </a:lnTo>
                  <a:cubicBezTo>
                    <a:pt x="11064240" y="1605026"/>
                    <a:pt x="11023346" y="1645920"/>
                    <a:pt x="10972800" y="1645920"/>
                  </a:cubicBezTo>
                  <a:lnTo>
                    <a:pt x="91440" y="1645920"/>
                  </a:lnTo>
                  <a:cubicBezTo>
                    <a:pt x="40894" y="1645920"/>
                    <a:pt x="0" y="1605026"/>
                    <a:pt x="0" y="1554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464040" y="4663440"/>
            <a:ext cx="137160" cy="1234440"/>
            <a:chOff x="0" y="0"/>
            <a:chExt cx="182880" cy="16459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2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875520" y="4800600"/>
            <a:ext cx="7543800" cy="384048"/>
            <a:chOff x="0" y="0"/>
            <a:chExt cx="10058400" cy="5120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00584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E7C8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Class imbalance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875520" y="5239512"/>
            <a:ext cx="7543800" cy="480060"/>
            <a:chOff x="0" y="0"/>
            <a:chExt cx="1005840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100584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imbalanced-learn  ·  SMOTE on train only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54380" y="6103620"/>
            <a:ext cx="8298180" cy="1234440"/>
            <a:chOff x="0" y="0"/>
            <a:chExt cx="11064240" cy="16459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064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554480"/>
                  </a:lnTo>
                  <a:cubicBezTo>
                    <a:pt x="11064240" y="1605026"/>
                    <a:pt x="11023346" y="1645920"/>
                    <a:pt x="10972800" y="1645920"/>
                  </a:cubicBezTo>
                  <a:lnTo>
                    <a:pt x="91440" y="1645920"/>
                  </a:lnTo>
                  <a:cubicBezTo>
                    <a:pt x="40894" y="1645920"/>
                    <a:pt x="0" y="1605026"/>
                    <a:pt x="0" y="1554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54380" y="6103620"/>
            <a:ext cx="137160" cy="1234440"/>
            <a:chOff x="0" y="0"/>
            <a:chExt cx="182880" cy="16459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2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65860" y="6240780"/>
            <a:ext cx="7543800" cy="384048"/>
            <a:chOff x="0" y="0"/>
            <a:chExt cx="10058400" cy="5120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100584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E7C8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Fuzzy logic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65860" y="6679692"/>
            <a:ext cx="7543800" cy="480060"/>
            <a:chOff x="0" y="0"/>
            <a:chExt cx="10058400" cy="640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00584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Interpretable Mamdani engine  ·  scikit-fuzzy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64040" y="6103620"/>
            <a:ext cx="8298180" cy="1234440"/>
            <a:chOff x="0" y="0"/>
            <a:chExt cx="11064240" cy="16459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064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554480"/>
                  </a:lnTo>
                  <a:cubicBezTo>
                    <a:pt x="11064240" y="1605026"/>
                    <a:pt x="11023346" y="1645920"/>
                    <a:pt x="10972800" y="1645920"/>
                  </a:cubicBezTo>
                  <a:lnTo>
                    <a:pt x="91440" y="1645920"/>
                  </a:lnTo>
                  <a:cubicBezTo>
                    <a:pt x="40894" y="1645920"/>
                    <a:pt x="0" y="1605026"/>
                    <a:pt x="0" y="1554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464040" y="6103620"/>
            <a:ext cx="137160" cy="1234440"/>
            <a:chOff x="0" y="0"/>
            <a:chExt cx="182880" cy="16459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2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875520" y="6240780"/>
            <a:ext cx="7543800" cy="384048"/>
            <a:chOff x="0" y="0"/>
            <a:chExt cx="10058400" cy="5120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100584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E7C8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Dashboard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875520" y="6679692"/>
            <a:ext cx="7543800" cy="480060"/>
            <a:chOff x="0" y="0"/>
            <a:chExt cx="10058400" cy="6400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100584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  ·  Plotly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54380" y="7543800"/>
            <a:ext cx="8298180" cy="1234440"/>
            <a:chOff x="0" y="0"/>
            <a:chExt cx="11064240" cy="16459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064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554480"/>
                  </a:lnTo>
                  <a:cubicBezTo>
                    <a:pt x="11064240" y="1605026"/>
                    <a:pt x="11023346" y="1645920"/>
                    <a:pt x="10972800" y="1645920"/>
                  </a:cubicBezTo>
                  <a:lnTo>
                    <a:pt x="91440" y="1645920"/>
                  </a:lnTo>
                  <a:cubicBezTo>
                    <a:pt x="40894" y="1645920"/>
                    <a:pt x="0" y="1605026"/>
                    <a:pt x="0" y="1554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754380" y="7543800"/>
            <a:ext cx="137160" cy="1234440"/>
            <a:chOff x="0" y="0"/>
            <a:chExt cx="182880" cy="16459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82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165860" y="7680960"/>
            <a:ext cx="7543800" cy="384048"/>
            <a:chOff x="0" y="0"/>
            <a:chExt cx="10058400" cy="5120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100584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E7C8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Persistence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65860" y="8119872"/>
            <a:ext cx="7543800" cy="480060"/>
            <a:chOff x="0" y="0"/>
            <a:chExt cx="10058400" cy="6400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57150"/>
              <a:ext cx="100584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joblib  ·  PyTorch checkpoints  ·  YAML config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464040" y="7543800"/>
            <a:ext cx="8298180" cy="1234440"/>
            <a:chOff x="0" y="0"/>
            <a:chExt cx="11064240" cy="16459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1064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0642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972800" y="0"/>
                  </a:lnTo>
                  <a:cubicBezTo>
                    <a:pt x="11023346" y="0"/>
                    <a:pt x="11064240" y="40894"/>
                    <a:pt x="11064240" y="91440"/>
                  </a:cubicBezTo>
                  <a:lnTo>
                    <a:pt x="11064240" y="1554480"/>
                  </a:lnTo>
                  <a:cubicBezTo>
                    <a:pt x="11064240" y="1605026"/>
                    <a:pt x="11023346" y="1645920"/>
                    <a:pt x="10972800" y="1645920"/>
                  </a:cubicBezTo>
                  <a:lnTo>
                    <a:pt x="91440" y="1645920"/>
                  </a:lnTo>
                  <a:cubicBezTo>
                    <a:pt x="40894" y="1645920"/>
                    <a:pt x="0" y="1605026"/>
                    <a:pt x="0" y="1554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464040" y="7543800"/>
            <a:ext cx="137160" cy="1234440"/>
            <a:chOff x="0" y="0"/>
            <a:chExt cx="182880" cy="16459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82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875520" y="7680960"/>
            <a:ext cx="7543800" cy="384048"/>
            <a:chOff x="0" y="0"/>
            <a:chExt cx="10058400" cy="5120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100584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E7C86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Quality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875520" y="8119872"/>
            <a:ext cx="7543800" cy="480060"/>
            <a:chOff x="0" y="0"/>
            <a:chExt cx="10058400" cy="6400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100584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pytest  ·  Ruff / Black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 /  13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INTERFACE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Six pages of the decision dashboard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1851660"/>
            <a:ext cx="5417820" cy="3360420"/>
            <a:chOff x="0" y="0"/>
            <a:chExt cx="7223760" cy="4480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23760" cy="4480560"/>
            </a:xfrm>
            <a:custGeom>
              <a:avLst/>
              <a:gdLst/>
              <a:ahLst/>
              <a:cxnLst/>
              <a:rect r="r" b="b" t="t" l="l"/>
              <a:pathLst>
                <a:path h="4480560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4370832"/>
                  </a:lnTo>
                  <a:cubicBezTo>
                    <a:pt x="7223760" y="4431411"/>
                    <a:pt x="7174611" y="4480560"/>
                    <a:pt x="7114032" y="4480560"/>
                  </a:cubicBezTo>
                  <a:lnTo>
                    <a:pt x="109728" y="4480560"/>
                  </a:lnTo>
                  <a:cubicBezTo>
                    <a:pt x="49149" y="4480560"/>
                    <a:pt x="0" y="4431411"/>
                    <a:pt x="0" y="4370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153412"/>
            <a:ext cx="4732020" cy="480060"/>
            <a:chOff x="0" y="0"/>
            <a:chExt cx="630936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09360" cy="640080"/>
            </a:xfrm>
            <a:custGeom>
              <a:avLst/>
              <a:gdLst/>
              <a:ahLst/>
              <a:cxnLst/>
              <a:rect r="r" b="b" t="t" l="l"/>
              <a:pathLst>
                <a:path h="6400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066" r="0" b="-14206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3093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2674620"/>
            <a:ext cx="4732020" cy="617220"/>
            <a:chOff x="0" y="0"/>
            <a:chExt cx="630936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09360" cy="822960"/>
            </a:xfrm>
            <a:custGeom>
              <a:avLst/>
              <a:gdLst/>
              <a:ahLst/>
              <a:cxnLst/>
              <a:rect r="r" b="b" t="t" l="l"/>
              <a:pathLst>
                <a:path h="82296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3093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Dashboard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3429000"/>
            <a:ext cx="4732020" cy="1440180"/>
            <a:chOff x="0" y="0"/>
            <a:chExt cx="6309360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09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30936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Modules, defect rate, selected features, model status, recent predictions.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15100" y="1851660"/>
            <a:ext cx="5417820" cy="3360420"/>
            <a:chOff x="0" y="0"/>
            <a:chExt cx="7223760" cy="4480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23760" cy="4480560"/>
            </a:xfrm>
            <a:custGeom>
              <a:avLst/>
              <a:gdLst/>
              <a:ahLst/>
              <a:cxnLst/>
              <a:rect r="r" b="b" t="t" l="l"/>
              <a:pathLst>
                <a:path h="4480560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4370832"/>
                  </a:lnTo>
                  <a:cubicBezTo>
                    <a:pt x="7223760" y="4431411"/>
                    <a:pt x="7174611" y="4480560"/>
                    <a:pt x="7114032" y="4480560"/>
                  </a:cubicBezTo>
                  <a:lnTo>
                    <a:pt x="109728" y="4480560"/>
                  </a:lnTo>
                  <a:cubicBezTo>
                    <a:pt x="49149" y="4480560"/>
                    <a:pt x="0" y="4431411"/>
                    <a:pt x="0" y="4370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0" y="2153412"/>
            <a:ext cx="4732020" cy="480060"/>
            <a:chOff x="0" y="0"/>
            <a:chExt cx="630936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09360" cy="640080"/>
            </a:xfrm>
            <a:custGeom>
              <a:avLst/>
              <a:gdLst/>
              <a:ahLst/>
              <a:cxnLst/>
              <a:rect r="r" b="b" t="t" l="l"/>
              <a:pathLst>
                <a:path h="6400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066" r="0" b="-1420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3093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58000" y="2674620"/>
            <a:ext cx="4732020" cy="617220"/>
            <a:chOff x="0" y="0"/>
            <a:chExt cx="630936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09360" cy="822960"/>
            </a:xfrm>
            <a:custGeom>
              <a:avLst/>
              <a:gdLst/>
              <a:ahLst/>
              <a:cxnLst/>
              <a:rect r="r" b="b" t="t" l="l"/>
              <a:pathLst>
                <a:path h="82296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3093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Dataset Analysis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58000" y="3429000"/>
            <a:ext cx="4732020" cy="1440180"/>
            <a:chOff x="0" y="0"/>
            <a:chExt cx="6309360" cy="1920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09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30936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Dimensions, missingness, imbalance, descriptive stats, correlation matrix.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75820" y="1851660"/>
            <a:ext cx="5417820" cy="3360420"/>
            <a:chOff x="0" y="0"/>
            <a:chExt cx="7223760" cy="4480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23760" cy="4480560"/>
            </a:xfrm>
            <a:custGeom>
              <a:avLst/>
              <a:gdLst/>
              <a:ahLst/>
              <a:cxnLst/>
              <a:rect r="r" b="b" t="t" l="l"/>
              <a:pathLst>
                <a:path h="4480560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4370832"/>
                  </a:lnTo>
                  <a:cubicBezTo>
                    <a:pt x="7223760" y="4431411"/>
                    <a:pt x="7174611" y="4480560"/>
                    <a:pt x="7114032" y="4480560"/>
                  </a:cubicBezTo>
                  <a:lnTo>
                    <a:pt x="109728" y="4480560"/>
                  </a:lnTo>
                  <a:cubicBezTo>
                    <a:pt x="49149" y="4480560"/>
                    <a:pt x="0" y="4431411"/>
                    <a:pt x="0" y="4370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18720" y="2153412"/>
            <a:ext cx="4732020" cy="480060"/>
            <a:chOff x="0" y="0"/>
            <a:chExt cx="630936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09360" cy="640080"/>
            </a:xfrm>
            <a:custGeom>
              <a:avLst/>
              <a:gdLst/>
              <a:ahLst/>
              <a:cxnLst/>
              <a:rect r="r" b="b" t="t" l="l"/>
              <a:pathLst>
                <a:path h="6400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066" r="0" b="-14206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3093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618720" y="2674620"/>
            <a:ext cx="4732020" cy="617220"/>
            <a:chOff x="0" y="0"/>
            <a:chExt cx="6309360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09360" cy="822960"/>
            </a:xfrm>
            <a:custGeom>
              <a:avLst/>
              <a:gdLst/>
              <a:ahLst/>
              <a:cxnLst/>
              <a:rect r="r" b="b" t="t" l="l"/>
              <a:pathLst>
                <a:path h="82296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3093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Model Training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618720" y="3429000"/>
            <a:ext cx="4732020" cy="1440180"/>
            <a:chOff x="0" y="0"/>
            <a:chExt cx="630936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09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30936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Split, GA settings, SMOTE toggle, live telemetry, selected feature chips.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4380" y="5486400"/>
            <a:ext cx="5417820" cy="3360420"/>
            <a:chOff x="0" y="0"/>
            <a:chExt cx="7223760" cy="44805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23760" cy="4480560"/>
            </a:xfrm>
            <a:custGeom>
              <a:avLst/>
              <a:gdLst/>
              <a:ahLst/>
              <a:cxnLst/>
              <a:rect r="r" b="b" t="t" l="l"/>
              <a:pathLst>
                <a:path h="4480560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4370832"/>
                  </a:lnTo>
                  <a:cubicBezTo>
                    <a:pt x="7223760" y="4431411"/>
                    <a:pt x="7174611" y="4480560"/>
                    <a:pt x="7114032" y="4480560"/>
                  </a:cubicBezTo>
                  <a:lnTo>
                    <a:pt x="109728" y="4480560"/>
                  </a:lnTo>
                  <a:cubicBezTo>
                    <a:pt x="49149" y="4480560"/>
                    <a:pt x="0" y="4431411"/>
                    <a:pt x="0" y="4370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7280" y="5788152"/>
            <a:ext cx="4732020" cy="480060"/>
            <a:chOff x="0" y="0"/>
            <a:chExt cx="630936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09360" cy="640080"/>
            </a:xfrm>
            <a:custGeom>
              <a:avLst/>
              <a:gdLst/>
              <a:ahLst/>
              <a:cxnLst/>
              <a:rect r="r" b="b" t="t" l="l"/>
              <a:pathLst>
                <a:path h="6400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066" r="0" b="-1420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3093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7280" y="6309360"/>
            <a:ext cx="4732020" cy="617220"/>
            <a:chOff x="0" y="0"/>
            <a:chExt cx="6309360" cy="822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09360" cy="822960"/>
            </a:xfrm>
            <a:custGeom>
              <a:avLst/>
              <a:gdLst/>
              <a:ahLst/>
              <a:cxnLst/>
              <a:rect r="r" b="b" t="t" l="l"/>
              <a:pathLst>
                <a:path h="82296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3093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Predictions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97280" y="7063740"/>
            <a:ext cx="4732020" cy="1440180"/>
            <a:chOff x="0" y="0"/>
            <a:chExt cx="6309360" cy="19202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09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30936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Pick a module or override metrics. See probability, risk tier, rules, action.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515100" y="5486400"/>
            <a:ext cx="5417820" cy="3360420"/>
            <a:chOff x="0" y="0"/>
            <a:chExt cx="7223760" cy="4480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23760" cy="4480560"/>
            </a:xfrm>
            <a:custGeom>
              <a:avLst/>
              <a:gdLst/>
              <a:ahLst/>
              <a:cxnLst/>
              <a:rect r="r" b="b" t="t" l="l"/>
              <a:pathLst>
                <a:path h="4480560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4370832"/>
                  </a:lnTo>
                  <a:cubicBezTo>
                    <a:pt x="7223760" y="4431411"/>
                    <a:pt x="7174611" y="4480560"/>
                    <a:pt x="7114032" y="4480560"/>
                  </a:cubicBezTo>
                  <a:lnTo>
                    <a:pt x="109728" y="4480560"/>
                  </a:lnTo>
                  <a:cubicBezTo>
                    <a:pt x="49149" y="4480560"/>
                    <a:pt x="0" y="4431411"/>
                    <a:pt x="0" y="4370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858000" y="5788152"/>
            <a:ext cx="4732020" cy="480060"/>
            <a:chOff x="0" y="0"/>
            <a:chExt cx="630936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09360" cy="640080"/>
            </a:xfrm>
            <a:custGeom>
              <a:avLst/>
              <a:gdLst/>
              <a:ahLst/>
              <a:cxnLst/>
              <a:rect r="r" b="b" t="t" l="l"/>
              <a:pathLst>
                <a:path h="6400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066" r="0" b="-14206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3093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0" y="6309360"/>
            <a:ext cx="4732020" cy="617220"/>
            <a:chOff x="0" y="0"/>
            <a:chExt cx="6309360" cy="822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09360" cy="822960"/>
            </a:xfrm>
            <a:custGeom>
              <a:avLst/>
              <a:gdLst/>
              <a:ahLst/>
              <a:cxnLst/>
              <a:rect r="r" b="b" t="t" l="l"/>
              <a:pathLst>
                <a:path h="82296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63093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Model Comparison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0" y="7063740"/>
            <a:ext cx="4732020" cy="1440180"/>
            <a:chOff x="0" y="0"/>
            <a:chExt cx="6309360" cy="1920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09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30936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Baselines vs Neuro-Fuzzy-GA: F1, MCC, ROC, confusion matrix, testing budget.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275820" y="5486400"/>
            <a:ext cx="5417820" cy="3360420"/>
            <a:chOff x="0" y="0"/>
            <a:chExt cx="7223760" cy="44805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223760" cy="4480560"/>
            </a:xfrm>
            <a:custGeom>
              <a:avLst/>
              <a:gdLst/>
              <a:ahLst/>
              <a:cxnLst/>
              <a:rect r="r" b="b" t="t" l="l"/>
              <a:pathLst>
                <a:path h="4480560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4370832"/>
                  </a:lnTo>
                  <a:cubicBezTo>
                    <a:pt x="7223760" y="4431411"/>
                    <a:pt x="7174611" y="4480560"/>
                    <a:pt x="7114032" y="4480560"/>
                  </a:cubicBezTo>
                  <a:lnTo>
                    <a:pt x="109728" y="4480560"/>
                  </a:lnTo>
                  <a:cubicBezTo>
                    <a:pt x="49149" y="4480560"/>
                    <a:pt x="0" y="4431411"/>
                    <a:pt x="0" y="4370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618720" y="5788152"/>
            <a:ext cx="4732020" cy="480060"/>
            <a:chOff x="0" y="0"/>
            <a:chExt cx="630936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309360" cy="640080"/>
            </a:xfrm>
            <a:custGeom>
              <a:avLst/>
              <a:gdLst/>
              <a:ahLst/>
              <a:cxnLst/>
              <a:rect r="r" b="b" t="t" l="l"/>
              <a:pathLst>
                <a:path h="6400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066" r="0" b="-14206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63093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4A843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06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618720" y="6309360"/>
            <a:ext cx="4732020" cy="617220"/>
            <a:chOff x="0" y="0"/>
            <a:chExt cx="6309360" cy="8229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309360" cy="822960"/>
            </a:xfrm>
            <a:custGeom>
              <a:avLst/>
              <a:gdLst/>
              <a:ahLst/>
              <a:cxnLst/>
              <a:rect r="r" b="b" t="t" l="l"/>
              <a:pathLst>
                <a:path h="82296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63093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Explainability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618720" y="7063740"/>
            <a:ext cx="4732020" cy="1440180"/>
            <a:chOff x="0" y="0"/>
            <a:chExt cx="6309360" cy="1920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309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630936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 feature ranks, membership functions, fired rule base and strengths.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 /  13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OUTPUTS  &amp;  SCIENTIFIC INTEGRITY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What the system reports — and what it does not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1783080"/>
            <a:ext cx="8915400" cy="658368"/>
            <a:chOff x="0" y="0"/>
            <a:chExt cx="1188720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1188720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814048" y="0"/>
                  </a:lnTo>
                  <a:cubicBezTo>
                    <a:pt x="11854434" y="0"/>
                    <a:pt x="11887200" y="32766"/>
                    <a:pt x="11887200" y="73152"/>
                  </a:cubicBezTo>
                  <a:lnTo>
                    <a:pt x="11887200" y="804672"/>
                  </a:lnTo>
                  <a:cubicBezTo>
                    <a:pt x="11887200" y="845058"/>
                    <a:pt x="11854434" y="877824"/>
                    <a:pt x="11814048" y="877824"/>
                  </a:cubicBezTo>
                  <a:lnTo>
                    <a:pt x="73152" y="877824"/>
                  </a:lnTo>
                  <a:cubicBezTo>
                    <a:pt x="32766" y="877824"/>
                    <a:pt x="0" y="845058"/>
                    <a:pt x="0" y="804672"/>
                  </a:cubicBezTo>
                  <a:close/>
                </a:path>
              </a:pathLst>
            </a:custGeom>
            <a:solidFill>
              <a:srgbClr val="E6F4F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1892808"/>
            <a:ext cx="8366760" cy="438912"/>
            <a:chOff x="0" y="0"/>
            <a:chExt cx="1115568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55680" cy="585216"/>
            </a:xfrm>
            <a:custGeom>
              <a:avLst/>
              <a:gdLst/>
              <a:ahLst/>
              <a:cxnLst/>
              <a:rect r="r" b="b" t="t" l="l"/>
              <a:pathLst>
                <a:path h="585216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433" r="0" b="-32143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1556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Defect probability from the trained neural model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2537460"/>
            <a:ext cx="8915400" cy="658368"/>
            <a:chOff x="0" y="0"/>
            <a:chExt cx="11887200" cy="8778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8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1188720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814048" y="0"/>
                  </a:lnTo>
                  <a:cubicBezTo>
                    <a:pt x="11854434" y="0"/>
                    <a:pt x="11887200" y="32766"/>
                    <a:pt x="11887200" y="73152"/>
                  </a:cubicBezTo>
                  <a:lnTo>
                    <a:pt x="11887200" y="804672"/>
                  </a:lnTo>
                  <a:cubicBezTo>
                    <a:pt x="11887200" y="845058"/>
                    <a:pt x="11854434" y="877824"/>
                    <a:pt x="11814048" y="877824"/>
                  </a:cubicBezTo>
                  <a:lnTo>
                    <a:pt x="73152" y="877824"/>
                  </a:lnTo>
                  <a:cubicBezTo>
                    <a:pt x="32766" y="877824"/>
                    <a:pt x="0" y="845058"/>
                    <a:pt x="0" y="804672"/>
                  </a:cubicBezTo>
                  <a:close/>
                </a:path>
              </a:pathLst>
            </a:custGeom>
            <a:solidFill>
              <a:srgbClr val="E6F4F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2647188"/>
            <a:ext cx="8366760" cy="438912"/>
            <a:chOff x="0" y="0"/>
            <a:chExt cx="1115568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55680" cy="585216"/>
            </a:xfrm>
            <a:custGeom>
              <a:avLst/>
              <a:gdLst/>
              <a:ahLst/>
              <a:cxnLst/>
              <a:rect r="r" b="b" t="t" l="l"/>
              <a:pathLst>
                <a:path h="585216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433" r="0" b="-3214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1556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Defective / non-defective prediction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4380" y="3291840"/>
            <a:ext cx="8915400" cy="658368"/>
            <a:chOff x="0" y="0"/>
            <a:chExt cx="1188720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88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1188720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814048" y="0"/>
                  </a:lnTo>
                  <a:cubicBezTo>
                    <a:pt x="11854434" y="0"/>
                    <a:pt x="11887200" y="32766"/>
                    <a:pt x="11887200" y="73152"/>
                  </a:cubicBezTo>
                  <a:lnTo>
                    <a:pt x="11887200" y="804672"/>
                  </a:lnTo>
                  <a:cubicBezTo>
                    <a:pt x="11887200" y="845058"/>
                    <a:pt x="11854434" y="877824"/>
                    <a:pt x="11814048" y="877824"/>
                  </a:cubicBezTo>
                  <a:lnTo>
                    <a:pt x="73152" y="877824"/>
                  </a:lnTo>
                  <a:cubicBezTo>
                    <a:pt x="32766" y="877824"/>
                    <a:pt x="0" y="845058"/>
                    <a:pt x="0" y="804672"/>
                  </a:cubicBezTo>
                  <a:close/>
                </a:path>
              </a:pathLst>
            </a:custGeom>
            <a:solidFill>
              <a:srgbClr val="E6F4F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3401568"/>
            <a:ext cx="8366760" cy="438912"/>
            <a:chOff x="0" y="0"/>
            <a:chExt cx="1115568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55680" cy="585216"/>
            </a:xfrm>
            <a:custGeom>
              <a:avLst/>
              <a:gdLst/>
              <a:ahLst/>
              <a:cxnLst/>
              <a:rect r="r" b="b" t="t" l="l"/>
              <a:pathLst>
                <a:path h="585216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433" r="0" b="-32143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11556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Derived risk severity (Low / Medium / High / Critical)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4380" y="4046220"/>
            <a:ext cx="8915400" cy="658368"/>
            <a:chOff x="0" y="0"/>
            <a:chExt cx="11887200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88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1188720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814048" y="0"/>
                  </a:lnTo>
                  <a:cubicBezTo>
                    <a:pt x="11854434" y="0"/>
                    <a:pt x="11887200" y="32766"/>
                    <a:pt x="11887200" y="73152"/>
                  </a:cubicBezTo>
                  <a:lnTo>
                    <a:pt x="11887200" y="804672"/>
                  </a:lnTo>
                  <a:cubicBezTo>
                    <a:pt x="11887200" y="845058"/>
                    <a:pt x="11854434" y="877824"/>
                    <a:pt x="11814048" y="877824"/>
                  </a:cubicBezTo>
                  <a:lnTo>
                    <a:pt x="73152" y="877824"/>
                  </a:lnTo>
                  <a:cubicBezTo>
                    <a:pt x="32766" y="877824"/>
                    <a:pt x="0" y="845058"/>
                    <a:pt x="0" y="804672"/>
                  </a:cubicBezTo>
                  <a:close/>
                </a:path>
              </a:pathLst>
            </a:custGeom>
            <a:solidFill>
              <a:srgbClr val="E6F4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4155948"/>
            <a:ext cx="8366760" cy="438912"/>
            <a:chOff x="0" y="0"/>
            <a:chExt cx="1115568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155680" cy="585216"/>
            </a:xfrm>
            <a:custGeom>
              <a:avLst/>
              <a:gdLst/>
              <a:ahLst/>
              <a:cxnLst/>
              <a:rect r="r" b="b" t="t" l="l"/>
              <a:pathLst>
                <a:path h="585216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433" r="0" b="-32143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11556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 confidence (distance from 0.5, not a CI)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4380" y="4800600"/>
            <a:ext cx="8915400" cy="658368"/>
            <a:chOff x="0" y="0"/>
            <a:chExt cx="11887200" cy="8778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8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1188720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814048" y="0"/>
                  </a:lnTo>
                  <a:cubicBezTo>
                    <a:pt x="11854434" y="0"/>
                    <a:pt x="11887200" y="32766"/>
                    <a:pt x="11887200" y="73152"/>
                  </a:cubicBezTo>
                  <a:lnTo>
                    <a:pt x="11887200" y="804672"/>
                  </a:lnTo>
                  <a:cubicBezTo>
                    <a:pt x="11887200" y="845058"/>
                    <a:pt x="11854434" y="877824"/>
                    <a:pt x="11814048" y="877824"/>
                  </a:cubicBezTo>
                  <a:lnTo>
                    <a:pt x="73152" y="877824"/>
                  </a:lnTo>
                  <a:cubicBezTo>
                    <a:pt x="32766" y="877824"/>
                    <a:pt x="0" y="845058"/>
                    <a:pt x="0" y="804672"/>
                  </a:cubicBezTo>
                  <a:close/>
                </a:path>
              </a:pathLst>
            </a:custGeom>
            <a:solidFill>
              <a:srgbClr val="E6F4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28700" y="4910328"/>
            <a:ext cx="8366760" cy="438912"/>
            <a:chOff x="0" y="0"/>
            <a:chExt cx="1115568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55680" cy="585216"/>
            </a:xfrm>
            <a:custGeom>
              <a:avLst/>
              <a:gdLst/>
              <a:ahLst/>
              <a:cxnLst/>
              <a:rect r="r" b="b" t="t" l="l"/>
              <a:pathLst>
                <a:path h="585216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433" r="0" b="-3214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11556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Important risk factors and fired fuzzy rules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4380" y="5554980"/>
            <a:ext cx="8915400" cy="658368"/>
            <a:chOff x="0" y="0"/>
            <a:chExt cx="11887200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887200" cy="877824"/>
            </a:xfrm>
            <a:custGeom>
              <a:avLst/>
              <a:gdLst/>
              <a:ahLst/>
              <a:cxnLst/>
              <a:rect r="r" b="b" t="t" l="l"/>
              <a:pathLst>
                <a:path h="877824" w="1188720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814048" y="0"/>
                  </a:lnTo>
                  <a:cubicBezTo>
                    <a:pt x="11854434" y="0"/>
                    <a:pt x="11887200" y="32766"/>
                    <a:pt x="11887200" y="73152"/>
                  </a:cubicBezTo>
                  <a:lnTo>
                    <a:pt x="11887200" y="804672"/>
                  </a:lnTo>
                  <a:cubicBezTo>
                    <a:pt x="11887200" y="845058"/>
                    <a:pt x="11854434" y="877824"/>
                    <a:pt x="11814048" y="877824"/>
                  </a:cubicBezTo>
                  <a:lnTo>
                    <a:pt x="73152" y="877824"/>
                  </a:lnTo>
                  <a:cubicBezTo>
                    <a:pt x="32766" y="877824"/>
                    <a:pt x="0" y="845058"/>
                    <a:pt x="0" y="804672"/>
                  </a:cubicBezTo>
                  <a:close/>
                </a:path>
              </a:pathLst>
            </a:custGeom>
            <a:solidFill>
              <a:srgbClr val="E6F4F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5664708"/>
            <a:ext cx="8366760" cy="438912"/>
            <a:chOff x="0" y="0"/>
            <a:chExt cx="11155680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155680" cy="585216"/>
            </a:xfrm>
            <a:custGeom>
              <a:avLst/>
              <a:gdLst/>
              <a:ahLst/>
              <a:cxnLst/>
              <a:rect r="r" b="b" t="t" l="l"/>
              <a:pathLst>
                <a:path h="585216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433" r="0" b="-32143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11556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Testing recommendation generated from those results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12680" y="1783080"/>
            <a:ext cx="7475220" cy="7063740"/>
            <a:chOff x="0" y="0"/>
            <a:chExt cx="9966960" cy="94183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66961" cy="9418320"/>
            </a:xfrm>
            <a:custGeom>
              <a:avLst/>
              <a:gdLst/>
              <a:ahLst/>
              <a:cxnLst/>
              <a:rect r="r" b="b" t="t" l="l"/>
              <a:pathLst>
                <a:path h="9418320" w="9966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20656" y="0"/>
                  </a:lnTo>
                  <a:cubicBezTo>
                    <a:pt x="9901428" y="0"/>
                    <a:pt x="9966961" y="65532"/>
                    <a:pt x="9966961" y="146304"/>
                  </a:cubicBezTo>
                  <a:lnTo>
                    <a:pt x="9966961" y="9272016"/>
                  </a:lnTo>
                  <a:cubicBezTo>
                    <a:pt x="9966961" y="9352788"/>
                    <a:pt x="9901428" y="9418320"/>
                    <a:pt x="9820656" y="9418320"/>
                  </a:cubicBezTo>
                  <a:lnTo>
                    <a:pt x="146304" y="9418320"/>
                  </a:lnTo>
                  <a:cubicBezTo>
                    <a:pt x="65532" y="9418320"/>
                    <a:pt x="0" y="9352788"/>
                    <a:pt x="0" y="927201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424160" y="2125980"/>
            <a:ext cx="6789420" cy="480060"/>
            <a:chOff x="0" y="0"/>
            <a:chExt cx="905256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052560" cy="640080"/>
            </a:xfrm>
            <a:custGeom>
              <a:avLst/>
              <a:gdLst/>
              <a:ahLst/>
              <a:cxnLst/>
              <a:rect r="r" b="b" t="t" l="l"/>
              <a:pathLst>
                <a:path h="64008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574" r="0" b="-2255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05256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70">
                  <a:solidFill>
                    <a:srgbClr val="D4A8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 WILL NOT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24160" y="2880360"/>
            <a:ext cx="6720840" cy="754380"/>
            <a:chOff x="0" y="0"/>
            <a:chExt cx="896112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896112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Fabricate accuracy or hard-code predictions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424160" y="3771900"/>
            <a:ext cx="6720840" cy="754380"/>
            <a:chOff x="0" y="0"/>
            <a:chExt cx="8961120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896112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Call NASA-derived risk “ground-truth bug severity”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424160" y="4663440"/>
            <a:ext cx="6720840" cy="754380"/>
            <a:chOff x="0" y="0"/>
            <a:chExt cx="896112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896112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Leak test data into scaling, SMOTE, or GA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424160" y="5554980"/>
            <a:ext cx="6720840" cy="754380"/>
            <a:chOff x="0" y="0"/>
            <a:chExt cx="8961120" cy="1005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896112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training scores as test performance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424160" y="6446520"/>
            <a:ext cx="6720840" cy="754380"/>
            <a:chOff x="0" y="0"/>
            <a:chExt cx="8961120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896112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Claim superiority before experiments finish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424160" y="7338060"/>
            <a:ext cx="6720840" cy="754380"/>
            <a:chOff x="0" y="0"/>
            <a:chExt cx="8961120" cy="1005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896112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Hide preprocessing decisions from the log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 /  13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96012"/>
            <a:chOff x="0" y="0"/>
            <a:chExt cx="2432304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128016"/>
            </a:xfrm>
            <a:custGeom>
              <a:avLst/>
              <a:gdLst/>
              <a:ahLst/>
              <a:cxnLst/>
              <a:rect r="r" b="b" t="t" l="l"/>
              <a:pathLst>
                <a:path h="12801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84048"/>
            <a:ext cx="16733520" cy="384048"/>
            <a:chOff x="0" y="0"/>
            <a:chExt cx="2231136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1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990" r="0" b="-7989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113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C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54380"/>
            <a:ext cx="16733520" cy="754380"/>
            <a:chOff x="0" y="0"/>
            <a:chExt cx="2231136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13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311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Thank you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68880" y="2331720"/>
            <a:ext cx="13304520" cy="6172200"/>
            <a:chOff x="0" y="0"/>
            <a:chExt cx="17739360" cy="822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739361" cy="8229600"/>
            </a:xfrm>
            <a:custGeom>
              <a:avLst/>
              <a:gdLst/>
              <a:ahLst/>
              <a:cxnLst/>
              <a:rect r="r" b="b" t="t" l="l"/>
              <a:pathLst>
                <a:path h="8229600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8229600"/>
                  </a:lnTo>
                  <a:lnTo>
                    <a:pt x="0" y="8229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68880" y="2331720"/>
            <a:ext cx="13304520" cy="137160"/>
            <a:chOff x="0" y="0"/>
            <a:chExt cx="17739360" cy="182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39361" cy="182880"/>
            </a:xfrm>
            <a:custGeom>
              <a:avLst/>
              <a:gdLst/>
              <a:ahLst/>
              <a:cxnLst/>
              <a:rect r="r" b="b" t="t" l="l"/>
              <a:pathLst>
                <a:path h="182880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948940" y="3429000"/>
            <a:ext cx="12344400" cy="960120"/>
            <a:chOff x="0" y="0"/>
            <a:chExt cx="1645920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64592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1B2A4A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Questions, discussion, and feedback are welcome.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54680" y="4663440"/>
            <a:ext cx="11932920" cy="1920240"/>
            <a:chOff x="0" y="0"/>
            <a:chExt cx="15910560" cy="2560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910561" cy="2560320"/>
            </a:xfrm>
            <a:custGeom>
              <a:avLst/>
              <a:gdLst/>
              <a:ahLst/>
              <a:cxnLst/>
              <a:rect r="r" b="b" t="t" l="l"/>
              <a:pathLst>
                <a:path h="2560320" w="15910561">
                  <a:moveTo>
                    <a:pt x="0" y="0"/>
                  </a:moveTo>
                  <a:lnTo>
                    <a:pt x="15910561" y="0"/>
                  </a:lnTo>
                  <a:lnTo>
                    <a:pt x="15910561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085" r="0" b="-710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91056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is an explainable decision-support prototype for software defect prediction.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C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severity is derived from neural probability and fuzzy inference — not NASA ground-truth bug severity.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948940" y="6926580"/>
            <a:ext cx="12344400" cy="548640"/>
            <a:chOff x="0" y="0"/>
            <a:chExt cx="16459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0E7C8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Hybrid Neuro-Fuzzy-GA Decision Support System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4380" y="9848088"/>
            <a:ext cx="13030200" cy="274320"/>
            <a:chOff x="0" y="0"/>
            <a:chExt cx="17373600" cy="365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373600" cy="365760"/>
            </a:xfrm>
            <a:custGeom>
              <a:avLst/>
              <a:gdLst/>
              <a:ahLst/>
              <a:cxnLst/>
              <a:rect r="r" b="b" t="t" l="l"/>
              <a:pathLst>
                <a:path h="3657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737360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NeuroDefect  ·  Academic Project Presentation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636240" y="9848088"/>
            <a:ext cx="1851660" cy="274320"/>
            <a:chOff x="0" y="0"/>
            <a:chExt cx="2468880" cy="365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68880" cy="365760"/>
            </a:xfrm>
            <a:custGeom>
              <a:avLst/>
              <a:gdLst/>
              <a:ahLst/>
              <a:cxnLst/>
              <a:rect r="r" b="b" t="t" l="l"/>
              <a:pathLst>
                <a:path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4688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 /  13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DAHUalLcLWw</dc:identifier>
  <dcterms:modified xsi:type="dcterms:W3CDTF">2011-08-01T06:04:30Z</dcterms:modified>
  <cp:revision>1</cp:revision>
  <dc:title>IEEE Research Paper — Software Defect Prediction →</dc:title>
</cp:coreProperties>
</file>